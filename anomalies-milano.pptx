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61" r:id="rId11"/>
    <p:sldId id="257" r:id="rId7"/>
    <p:sldId id="266" r:id="rId19"/>
    <p:sldId id="258" r:id="rId8"/>
    <p:sldId id="259" r:id="rId9"/>
    <p:sldId id="271" r:id="rId24"/>
    <p:sldId id="280" r:id="rId33"/>
    <p:sldId id="260" r:id="rId10"/>
    <p:sldId id="276" r:id="rId29"/>
    <p:sldId id="272" r:id="rId25"/>
    <p:sldId id="277" r:id="rId30"/>
    <p:sldId id="278" r:id="rId31"/>
    <p:sldId id="273" r:id="rId26"/>
    <p:sldId id="281" r:id="rId34"/>
    <p:sldId id="269" r:id="rId22"/>
    <p:sldId id="274" r:id="rId27"/>
    <p:sldId id="267" r:id="rId20"/>
    <p:sldId id="268" r:id="rId21"/>
    <p:sldId id="270" r:id="rId23"/>
    <p:sldId id="282" r:id="rId35"/>
    <p:sldId id="275" r:id="rId28"/>
    <p:sldId id="283" r:id="rId36"/>
    <p:sldId id="279" r:id="rId32"/>
    <p:sldId id="284" r:id="rId37"/>
    <p:sldId id="265" r:id="rId15"/>
    <p:sldId id="285" r:id="rId38"/>
  </p:sldIdLst>
  <p:sldSz cx="18288000" cy="10287000"/>
  <p:notesSz cx="6858000" cy="9144000"/>
  <p:embeddedFontLst>
    <p:embeddedFont>
      <p:font typeface="Open Sans" charset="1" panose="00000000000000000000"/>
      <p:regular r:id="rId16"/>
    </p:embeddedFont>
    <p:embeddedFont>
      <p:font typeface="Open Sans Bold" charset="1" panose="00000000000000000000"/>
      <p:regular r:id="rId17"/>
    </p:embeddedFont>
    <p:embeddedFont>
      <p:font typeface="Barlow Condensed Bold" charset="1" panose="00000806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9.xml"/><Relationship Id="rId11" Type="http://schemas.openxmlformats.org/officeDocument/2006/relationships/slide" Target="slides/slide2.xml"/><Relationship Id="rId15" Type="http://schemas.openxmlformats.org/officeDocument/2006/relationships/slide" Target="slides/slide26.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slide" Target="slides/slide4.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16.xml"/><Relationship Id="rId23" Type="http://schemas.openxmlformats.org/officeDocument/2006/relationships/slide" Target="slides/slide20.xml"/><Relationship Id="rId24" Type="http://schemas.openxmlformats.org/officeDocument/2006/relationships/slide" Target="slides/slide7.xml"/><Relationship Id="rId25" Type="http://schemas.openxmlformats.org/officeDocument/2006/relationships/slide" Target="slides/slide11.xml"/><Relationship Id="rId26" Type="http://schemas.openxmlformats.org/officeDocument/2006/relationships/slide" Target="slides/slide14.xml"/><Relationship Id="rId27" Type="http://schemas.openxmlformats.org/officeDocument/2006/relationships/slide" Target="slides/slide17.xml"/><Relationship Id="rId28" Type="http://schemas.openxmlformats.org/officeDocument/2006/relationships/slide" Target="slides/slide22.xml"/><Relationship Id="rId29" Type="http://schemas.openxmlformats.org/officeDocument/2006/relationships/slide" Target="slides/slide10.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24.xml"/><Relationship Id="rId33" Type="http://schemas.openxmlformats.org/officeDocument/2006/relationships/slide" Target="slides/slide8.xml"/><Relationship Id="rId34" Type="http://schemas.openxmlformats.org/officeDocument/2006/relationships/slide" Target="slides/slide15.xml"/><Relationship Id="rId35" Type="http://schemas.openxmlformats.org/officeDocument/2006/relationships/slide" Target="slides/slide21.xml"/><Relationship Id="rId36" Type="http://schemas.openxmlformats.org/officeDocument/2006/relationships/slide" Target="slides/slide23.xml"/><Relationship Id="rId37" Type="http://schemas.openxmlformats.org/officeDocument/2006/relationships/slide" Target="slides/slide25.xml"/><Relationship Id="rId38"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s01_cover.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s02_probleme.png"/><Relationship Id="rId6"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jpeg"/><Relationship Id="rId5" Type="http://schemas.openxmlformats.org/officeDocument/2006/relationships/image" Target="../media/s03_terrain.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jpeg"/><Relationship Id="rId5" Type="http://schemas.openxmlformats.org/officeDocument/2006/relationships/image" Target="../media/s04_qualite.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s05a_distribution.png"/><Relationship Id="rId7" Type="http://schemas.openxmlformats.org/officeDocument/2006/relationships/image" Target="../media/s05b_heterogeneite.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7.jpeg"/><Relationship Id="rId5" Type="http://schemas.openxmlformats.org/officeDocument/2006/relationships/image" Target="../media/s06_cadre.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7.jpeg"/><Relationship Id="rId5" Type="http://schemas.openxmlformats.org/officeDocument/2006/relationships/image" Target="../media/s07_decoupage.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s08_garde.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8.jpeg"/><Relationship Id="rId5" Type="http://schemas.openxmlformats.org/officeDocument/2006/relationships/image" Target="../media/s09a_nomenclature.png"/><Relationship Id="rId6" Type="http://schemas.openxmlformats.org/officeDocument/2006/relationships/image" Target="../media/s09b_echelle.png"/><Relationship Id="rId7"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8.jpeg"/><Relationship Id="rId5" Type="http://schemas.openxmlformats.org/officeDocument/2006/relationships/image" Target="../media/s10a_ronds.png"/><Relationship Id="rId6" Type="http://schemas.openxmlformats.org/officeDocument/2006/relationships/image" Target="../media/s10b_calibres.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7.jpeg"/><Relationship Id="rId5" Type="http://schemas.openxmlformats.org/officeDocument/2006/relationships/image" Target="../media/s11_journee.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8.jpeg"/><Relationship Id="rId5" Type="http://schemas.openxmlformats.org/officeDocument/2006/relationships/image" Target="../media/s12a_reference.png"/><Relationship Id="rId6" Type="http://schemas.openxmlformats.org/officeDocument/2006/relationships/image" Target="../media/s12b_consensus.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8.jpeg"/><Relationship Id="rId5" Type="http://schemas.openxmlformats.org/officeDocument/2006/relationships/image" Target="../media/s13a_rythmes.png"/><Relationship Id="rId6" Type="http://schemas.openxmlformats.org/officeDocument/2006/relationships/image" Target="../media/s13b_effectif.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7.jpeg"/><Relationship Id="rId5" Type="http://schemas.openxmlformats.org/officeDocument/2006/relationships/image" Target="../media/s14_ecart.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s15_critere.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s16a_encodages.png"/><Relationship Id="rId7" Type="http://schemas.openxmlformats.org/officeDocument/2006/relationships/image" Target="../media/s16b_pardate.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7.jpeg"/><Relationship Id="rId5" Type="http://schemas.openxmlformats.org/officeDocument/2006/relationships/image" Target="../media/s17_anglemort.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jpeg"/><Relationship Id="rId5" Type="http://schemas.openxmlformats.org/officeDocument/2006/relationships/image" Target="../media/s18_janvier.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jpeg"/><Relationship Id="rId5" Type="http://schemas.openxmlformats.org/officeDocument/2006/relationships/image" Target="../media/s19_localiser.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s20a_canaux.png"/><Relationship Id="rId7" Type="http://schemas.openxmlformats.org/officeDocument/2006/relationships/image" Target="../media/s20b_croisement.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s21_latence.png"/><Relationship Id="rId6"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7.jpeg"/><Relationship Id="rId5" Type="http://schemas.openxmlformats.org/officeDocument/2006/relationships/image" Target="../media/s22_fenetre.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s23_echelles.png"/><Relationship Id="rId6" Type="http://schemas.openxmlformats.org/officeDocument/2006/relationships/image" Target="../media/image13.png"/><Relationship Id="rId7"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8.jpeg"/><Relationship Id="rId5" Type="http://schemas.openxmlformats.org/officeDocument/2006/relationships/image" Target="../media/s24a_horsligne.png"/><Relationship Id="rId6" Type="http://schemas.openxmlformats.org/officeDocument/2006/relationships/image" Target="../media/s24b_enligne.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5.jpeg"/><Relationship Id="rId5" Type="http://schemas.openxmlformats.org/officeDocument/2006/relationships/image" Target="../media/s25_limites.png"/><Relationship Id="rId6" Type="http://schemas.openxmlformats.org/officeDocument/2006/relationships/image" Target="../media/image14.png"/><Relationship Id="rId7"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23.jpeg"/><Relationship Id="rId5" Type="http://schemas.openxmlformats.org/officeDocument/2006/relationships/image" Target="../media/image24.jpeg"/><Relationship Id="rId6" Type="http://schemas.openxmlformats.org/officeDocument/2006/relationships/image" Target="../media/s26a_tiles.png"/><Relationship Id="rId7" Type="http://schemas.openxmlformats.org/officeDocument/2006/relationships/image" Target="../media/s26b_prolongements.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23.jpeg"/><Relationship Id="rId5" Type="http://schemas.openxmlformats.org/officeDocument/2006/relationships/image" Target="../media/image24.jpeg"/><Relationship Id="rId6" Type="http://schemas.openxmlformats.org/officeDocument/2006/relationships/image" Target="../media/s27a_3d.png"/><Relationship Id="rId7" Type="http://schemas.openxmlformats.org/officeDocument/2006/relationships/image" Target="../media/s27b_demo.png"/><Relationship Id="rId8" Type="http://schemas.openxmlformats.org/officeDocument/2006/relationships/image" Target="../media/image10.png"/><Relationship Id="rId9" Type="http://schemas.openxmlformats.org/officeDocument/2006/relationships/hyperlink" Target="http://127.0.0.1:5500/viz/milan_3d.html" TargetMode="Externa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84318" y="3035914"/>
            <a:ext cx="4215172" cy="4215172"/>
          </a:xfrm>
          <a:custGeom>
            <a:avLst/>
            <a:gdLst/>
            <a:ahLst/>
            <a:cxnLst/>
            <a:rect r="r" b="b" t="t" l="l"/>
            <a:pathLst>
              <a:path h="4215172" w="4215172">
                <a:moveTo>
                  <a:pt x="0" y="0"/>
                </a:moveTo>
                <a:lnTo>
                  <a:pt x="4215173" y="0"/>
                </a:lnTo>
                <a:lnTo>
                  <a:pt x="4215173" y="4215172"/>
                </a:lnTo>
                <a:lnTo>
                  <a:pt x="0" y="4215172"/>
                </a:lnTo>
                <a:lnTo>
                  <a:pt x="0" y="0"/>
                </a:lnTo>
                <a:close/>
              </a:path>
            </a:pathLst>
          </a:custGeom>
          <a:blipFill>
            <a:blip r:embed="rId5"/>
            <a:stretch>
              <a:fillRect l="0" t="0" r="0" b="0"/>
            </a:stretch>
          </a:blipFill>
        </p:spPr>
        <p:txBody>
          <a:bodyPr/>
          <a:p/>
        </p:txBody>
      </p:sp>
      <p:grpSp>
        <p:nvGrpSpPr>
          <p:cNvPr name="Group 3" id="3"/>
          <p:cNvGrpSpPr/>
          <p:nvPr/>
        </p:nvGrpSpPr>
        <p:grpSpPr>
          <a:xfrm rot="0">
            <a:off x="17749838" y="7527480"/>
            <a:ext cx="47625" cy="1740345"/>
            <a:chOff x="0" y="0"/>
            <a:chExt cx="12543" cy="458362"/>
          </a:xfrm>
        </p:grpSpPr>
        <p:sp>
          <p:nvSpPr>
            <p:cNvPr name="Freeform 4" id="4"/>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5" id="5"/>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Group 7" id="7"/>
          <p:cNvGrpSpPr/>
          <p:nvPr/>
        </p:nvGrpSpPr>
        <p:grpSpPr>
          <a:xfrm rot="0">
            <a:off x="17259300" y="0"/>
            <a:ext cx="1028700" cy="1028700"/>
            <a:chOff x="0" y="0"/>
            <a:chExt cx="270933" cy="270933"/>
          </a:xfrm>
        </p:grpSpPr>
        <p:sp>
          <p:nvSpPr>
            <p:cNvPr name="Freeform 8" id="8"/>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9" id="9"/>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1" id="11"/>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2" id="12"/>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3" id="13"/>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4" id="14"/>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5" id="15"/>
          <p:cNvGrpSpPr/>
          <p:nvPr/>
        </p:nvGrpSpPr>
        <p:grpSpPr>
          <a:xfrm rot="0">
            <a:off x="17259300" y="9258300"/>
            <a:ext cx="1028700" cy="1028700"/>
            <a:chOff x="0" y="0"/>
            <a:chExt cx="270933" cy="270933"/>
          </a:xfrm>
        </p:grpSpPr>
        <p:sp>
          <p:nvSpPr>
            <p:cNvPr name="Freeform 16" id="1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7" id="1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01</a:t>
            </a:r>
          </a:p>
        </p:txBody>
      </p:sp>
      <p:sp>
        <p:nvSpPr>
          <p:cNvPr name="TextBox 19" id="19"/>
          <p:cNvSpPr txBox="true"/>
          <p:nvPr/>
        </p:nvSpPr>
        <p:spPr>
          <a:xfrm rot="0">
            <a:off x="7505887" y="2740639"/>
            <a:ext cx="8924186" cy="2623240"/>
          </a:xfrm>
          <a:prstGeom prst="rect">
            <a:avLst/>
          </a:prstGeom>
        </p:spPr>
        <p:txBody>
          <a:bodyPr anchor="t" rtlCol="false" tIns="0" lIns="0" bIns="0" rIns="0">
            <a:spAutoFit/>
          </a:bodyPr>
          <a:lstStyle/>
          <a:p>
            <a:pPr algn="l">
              <a:lnSpc>
                <a:spcPts val="21461"/>
              </a:lnSpc>
              <a:spcBef>
                <a:spcPct val="0"/>
              </a:spcBef>
            </a:pPr>
            <a:r>
              <a:rPr lang="en-US" b="true" sz="15329">
                <a:solidFill>
                  <a:srgbClr val="1F2020"/>
                </a:solidFill>
                <a:latin typeface="Barlow Condensed Bold"/>
                <a:ea typeface="Barlow Condensed Bold"/>
                <a:cs typeface="Barlow Condensed Bold"/>
                <a:sym typeface="Barlow Condensed Bold"/>
              </a:rPr>
              <a:t>Anomalies</a:t>
            </a:r>
          </a:p>
        </p:txBody>
      </p:sp>
      <p:sp>
        <p:nvSpPr>
          <p:cNvPr name="TextBox 20" id="20"/>
          <p:cNvSpPr txBox="true"/>
          <p:nvPr/>
        </p:nvSpPr>
        <p:spPr>
          <a:xfrm rot="0">
            <a:off x="7458852" y="4627846"/>
            <a:ext cx="10588530" cy="2623240"/>
          </a:xfrm>
          <a:prstGeom prst="rect">
            <a:avLst/>
          </a:prstGeom>
        </p:spPr>
        <p:txBody>
          <a:bodyPr anchor="t" rtlCol="false" tIns="0" lIns="0" bIns="0" rIns="0">
            <a:spAutoFit/>
          </a:bodyPr>
          <a:lstStyle/>
          <a:p>
            <a:pPr algn="l">
              <a:lnSpc>
                <a:spcPts val="21461"/>
              </a:lnSpc>
              <a:spcBef>
                <a:spcPct val="0"/>
              </a:spcBef>
            </a:pPr>
            <a:r>
              <a:rPr lang="en-US" b="true" sz="15329">
                <a:solidFill>
                  <a:srgbClr val="02CDFF"/>
                </a:solidFill>
                <a:latin typeface="Barlow Condensed Bold"/>
                <a:ea typeface="Barlow Condensed Bold"/>
                <a:cs typeface="Barlow Condensed Bold"/>
                <a:sym typeface="Barlow Condensed Bold"/>
              </a:rPr>
              <a:t>à Milan</a:t>
            </a:r>
          </a:p>
        </p:txBody>
      </p:sp>
      <p:sp>
        <p:nvSpPr>
          <p:cNvPr id="21" name="TextBox 20"/>
          <p:cNvSpPr txBox="1"/>
          <p:nvPr/>
        </p:nvSpPr>
        <p:spPr>
          <a:xfrm>
            <a:off x="7534656" y="7452360"/>
            <a:ext cx="8961120" cy="1280160"/>
          </a:xfrm>
          <a:prstGeom prst="rect">
            <a:avLst/>
          </a:prstGeom>
          <a:noFill/>
        </p:spPr>
        <p:txBody>
          <a:bodyPr wrap="square">
            <a:spAutoFit/>
          </a:bodyPr>
          <a:lstStyle/>
          <a:p>
            <a:r>
              <a:rPr sz="2300">
                <a:solidFill>
                  <a:srgbClr val="1F2020"/>
                </a:solidFill>
                <a:latin typeface="Open Sans"/>
              </a:rPr>
              <a:t>Adaptation du framework DiNATrAX au dataset Telecom Italia</a:t>
            </a:r>
          </a:p>
          <a:p>
            <a:r>
              <a:rPr sz="2300">
                <a:solidFill>
                  <a:srgbClr val="8A9099"/>
                </a:solidFill>
                <a:latin typeface="Open Sans"/>
              </a:rPr>
              <a:t>Milan, novembre 2013 - janvier 2014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grpSp>
        <p:nvGrpSpPr>
          <p:cNvPr name="Group 18" id="18"/>
          <p:cNvGrpSpPr/>
          <p:nvPr/>
        </p:nvGrpSpPr>
        <p:grpSpPr>
          <a:xfrm rot="0">
            <a:off x="0" y="1028700"/>
            <a:ext cx="6133945" cy="9258300"/>
            <a:chOff x="0" y="0"/>
            <a:chExt cx="8178594" cy="12344400"/>
          </a:xfrm>
        </p:grpSpPr>
        <p:pic>
          <p:nvPicPr>
            <p:cNvPr name="Picture 19" id="19"/>
            <p:cNvPicPr>
              <a:picLocks noChangeAspect="true"/>
            </p:cNvPicPr>
            <p:nvPr/>
          </p:nvPicPr>
          <p:blipFill>
            <a:blip r:embed="rId6"/>
            <a:stretch>
              <a:fillRect/>
            </a:stretch>
          </p:blipFill>
          <p:spPr>
            <a:xfrm flipH="false" flipV="false">
              <a:off x="0" y="0"/>
              <a:ext cx="8178594" cy="12344400"/>
            </a:xfrm>
            <a:prstGeom prst="rect">
              <a:avLst/>
            </a:prstGeom>
          </p:spPr>
        </p:pic>
      </p:grpSp>
      <p:sp>
        <p:nvSpPr>
          <p:cNvPr name="TextBox 20" id="20"/>
          <p:cNvSpPr txBox="true"/>
          <p:nvPr/>
        </p:nvSpPr>
        <p:spPr>
          <a:xfrm rot="0">
            <a:off x="7477913" y="1991118"/>
            <a:ext cx="4125510" cy="1691640"/>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Le problème</a:t>
            </a:r>
          </a:p>
        </p:txBody>
      </p:sp>
      <p:grpSp>
        <p:nvGrpSpPr>
          <p:cNvPr name="Group 21" id="21"/>
          <p:cNvGrpSpPr/>
          <p:nvPr/>
        </p:nvGrpSpPr>
        <p:grpSpPr>
          <a:xfrm rot="0">
            <a:off x="7477913" y="3788751"/>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475034"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 rassemblement, une panne, une attaque. Le symptôme est le même : le trafic s'écarte de ce qu'il devrait être. La méthode ne préjuge pas de la cause, elle signale l'écart.</a:t>
            </a:r>
          </a:p>
        </p:txBody>
      </p:sp>
      <p:sp>
        <p:nvSpPr>
          <p:cNvPr name="TextBox 25" id="25"/>
          <p:cNvSpPr txBox="true"/>
          <p:nvPr/>
        </p:nvSpPr>
        <p:spPr>
          <a:xfrm rot="0">
            <a:off x="7568734"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8475034"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Trois causes</a:t>
            </a:r>
          </a:p>
        </p:txBody>
      </p:sp>
      <p:grpSp>
        <p:nvGrpSpPr>
          <p:cNvPr name="Group 27" id="27"/>
          <p:cNvGrpSpPr/>
          <p:nvPr/>
        </p:nvGrpSpPr>
        <p:grpSpPr>
          <a:xfrm rot="0">
            <a:off x="12364545" y="3788751"/>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3361666"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267 millions d'enregistrements. Toute méthode qui exige de regarder les données une par une est disqualifiée d'emblée.</a:t>
            </a:r>
          </a:p>
        </p:txBody>
      </p:sp>
      <p:sp>
        <p:nvSpPr>
          <p:cNvPr name="TextBox 31" id="31"/>
          <p:cNvSpPr txBox="true"/>
          <p:nvPr/>
        </p:nvSpPr>
        <p:spPr>
          <a:xfrm rot="0">
            <a:off x="12455365"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3361666"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volume</a:t>
            </a:r>
          </a:p>
        </p:txBody>
      </p:sp>
      <p:grpSp>
        <p:nvGrpSpPr>
          <p:cNvPr name="Group 33" id="33"/>
          <p:cNvGrpSpPr/>
          <p:nvPr/>
        </p:nvGrpSpPr>
        <p:grpSpPr>
          <a:xfrm rot="0">
            <a:off x="7477913" y="6513804"/>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8475034"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 écart ne se mesure que par rapport à une référence. Ce choix détermine ce que la méthode voit et ce qu'elle rate — c'est la vraie difficulté.</a:t>
            </a:r>
          </a:p>
        </p:txBody>
      </p:sp>
      <p:sp>
        <p:nvSpPr>
          <p:cNvPr name="TextBox 37" id="37"/>
          <p:cNvSpPr txBox="true"/>
          <p:nvPr/>
        </p:nvSpPr>
        <p:spPr>
          <a:xfrm rot="0">
            <a:off x="7568734"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8475034"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Définir le normal</a:t>
            </a:r>
          </a:p>
        </p:txBody>
      </p:sp>
      <p:grpSp>
        <p:nvGrpSpPr>
          <p:cNvPr name="Group 39" id="39"/>
          <p:cNvGrpSpPr/>
          <p:nvPr/>
        </p:nvGrpSpPr>
        <p:grpSpPr>
          <a:xfrm rot="0">
            <a:off x="12364545" y="6513804"/>
            <a:ext cx="677751" cy="677751"/>
            <a:chOff x="0" y="0"/>
            <a:chExt cx="178502" cy="178502"/>
          </a:xfrm>
        </p:grpSpPr>
        <p:sp>
          <p:nvSpPr>
            <p:cNvPr name="Freeform 40" id="4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41" id="4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361666"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Une zone de centre-ville et une zone périphérique n'ont ni les mêmes volumes ni la même régularité. Un critère unique ne peut pas convenir aux deux.</a:t>
            </a:r>
          </a:p>
        </p:txBody>
      </p:sp>
      <p:sp>
        <p:nvSpPr>
          <p:cNvPr name="TextBox 43" id="43"/>
          <p:cNvSpPr txBox="true"/>
          <p:nvPr/>
        </p:nvSpPr>
        <p:spPr>
          <a:xfrm rot="0">
            <a:off x="12455365"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
        <p:nvSpPr>
          <p:cNvPr name="TextBox 44" id="44"/>
          <p:cNvSpPr txBox="true"/>
          <p:nvPr/>
        </p:nvSpPr>
        <p:spPr>
          <a:xfrm rot="0">
            <a:off x="13361666"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L'hétérogénéité</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03</a:t>
            </a:r>
          </a:p>
        </p:txBody>
      </p:sp>
      <p:grpSp>
        <p:nvGrpSpPr>
          <p:cNvPr name="Group 18" id="18"/>
          <p:cNvGrpSpPr/>
          <p:nvPr/>
        </p:nvGrpSpPr>
        <p:grpSpPr>
          <a:xfrm rot="0">
            <a:off x="1039108" y="1028700"/>
            <a:ext cx="4893363" cy="8239125"/>
            <a:chOff x="0" y="0"/>
            <a:chExt cx="6524484" cy="10985500"/>
          </a:xfrm>
        </p:grpSpPr>
        <p:pic>
          <p:nvPicPr>
            <p:cNvPr name="Picture 19" id="19"/>
            <p:cNvPicPr>
              <a:picLocks noChangeAspect="true"/>
            </p:cNvPicPr>
            <p:nvPr/>
          </p:nvPicPr>
          <p:blipFill>
            <a:blip r:embed="rId5"/>
            <a:stretch>
              <a:fillRect/>
            </a:stretch>
          </p:blipFill>
          <p:spPr>
            <a:xfrm flipH="false" flipV="false">
              <a:off x="0" y="0"/>
              <a:ext cx="6524484" cy="10985500"/>
            </a:xfrm>
            <a:prstGeom prst="rect">
              <a:avLst/>
            </a:prstGeom>
          </p:spPr>
        </p:pic>
      </p:grpSp>
      <p:sp>
        <p:nvSpPr>
          <p:cNvPr name="TextBox 20" id="20"/>
          <p:cNvSpPr txBox="true"/>
          <p:nvPr/>
        </p:nvSpPr>
        <p:spPr>
          <a:xfrm rot="0">
            <a:off x="7613832" y="2367482"/>
            <a:ext cx="9207707"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Le terrain</a:t>
            </a:r>
          </a:p>
        </p:txBody>
      </p:sp>
      <p:sp>
        <p:nvSpPr>
          <p:cNvPr name="TextBox 21" id="21"/>
          <p:cNvSpPr txBox="true"/>
          <p:nvPr/>
        </p:nvSpPr>
        <p:spPr>
          <a:xfrm rot="0">
            <a:off x="7613832" y="4179357"/>
            <a:ext cx="8346855" cy="82706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dataset Telecom Italia Big Data Challenge, portion Milan. La ville est découpée en 10 000 cellules carrées ; pour chacune, l'activité est mesurée toutes les dix minutes, sur cinq canaux, du 1er novembre 2013 au 1er janvier 2014.</a:t>
            </a:r>
          </a:p>
        </p:txBody>
      </p:sp>
      <p:sp>
        <p:nvSpPr>
          <p:cNvPr name="TextBox 22" id="22"/>
          <p:cNvSpPr txBox="true"/>
          <p:nvPr/>
        </p:nvSpPr>
        <p:spPr>
          <a:xfrm rot="0">
            <a:off x="7613832" y="6531815"/>
            <a:ext cx="3642004"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267 millions d'enregistrements sur 52 fichiers journaliers, lus et agrégés en un peu plus de six minutes. Deux niveaux d'agrégation sont construits en parallèle : par cellule et par jour, par cellule et par heure.</a:t>
            </a:r>
          </a:p>
        </p:txBody>
      </p:sp>
      <p:sp>
        <p:nvSpPr>
          <p:cNvPr name="TextBox 23" id="23"/>
          <p:cNvSpPr txBox="true"/>
          <p:nvPr/>
        </p:nvSpPr>
        <p:spPr>
          <a:xfrm rot="0">
            <a:off x="7613832" y="5923716"/>
            <a:ext cx="2699443" cy="264086"/>
          </a:xfrm>
          <a:prstGeom prst="rect">
            <a:avLst/>
          </a:prstGeom>
        </p:spPr>
        <p:txBody>
          <a:bodyPr anchor="t" rtlCol="false" tIns="0" lIns="0" bIns="0" rIns="0">
            <a:spAutoFit/>
          </a:bodyPr>
          <a:lstStyle/>
          <a:p>
            <a:pPr algn="l">
              <a:lnSpc>
                <a:spcPts val="2239"/>
              </a:lnSpc>
              <a:spcBef>
                <a:spcPct val="0"/>
              </a:spcBef>
            </a:pPr>
            <a:r>
              <a:rPr lang="en-US" b="true" sz="1599">
                <a:solidFill>
                  <a:srgbClr val="02CDFF"/>
                </a:solidFill>
                <a:latin typeface="Open Sans Bold"/>
                <a:ea typeface="Open Sans Bold"/>
                <a:cs typeface="Open Sans Bold"/>
                <a:sym typeface="Open Sans Bold"/>
              </a:rPr>
              <a:t>Le volume réel</a:t>
            </a:r>
          </a:p>
        </p:txBody>
      </p:sp>
      <p:sp>
        <p:nvSpPr>
          <p:cNvPr name="TextBox 24" id="24"/>
          <p:cNvSpPr txBox="true"/>
          <p:nvPr/>
        </p:nvSpPr>
        <p:spPr>
          <a:xfrm rot="0">
            <a:off x="12318682" y="6531815"/>
            <a:ext cx="3642004"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Dix journées manquent, du 11 au 20 décembre. Ce n'est pas une anomalie mais une absence de fichiers. Le signaler évite de confondre un trou avec un signal — et de le traiter comme tel plus loin dans la chaîne.</a:t>
            </a:r>
          </a:p>
        </p:txBody>
      </p:sp>
      <p:sp>
        <p:nvSpPr>
          <p:cNvPr name="TextBox 25" id="25"/>
          <p:cNvSpPr txBox="true"/>
          <p:nvPr/>
        </p:nvSpPr>
        <p:spPr>
          <a:xfrm rot="0">
            <a:off x="12318682" y="5923716"/>
            <a:ext cx="2699443" cy="264086"/>
          </a:xfrm>
          <a:prstGeom prst="rect">
            <a:avLst/>
          </a:prstGeom>
        </p:spPr>
        <p:txBody>
          <a:bodyPr anchor="t" rtlCol="false" tIns="0" lIns="0" bIns="0" rIns="0">
            <a:spAutoFit/>
          </a:bodyPr>
          <a:lstStyle/>
          <a:p>
            <a:pPr algn="l">
              <a:lnSpc>
                <a:spcPts val="2239"/>
              </a:lnSpc>
              <a:spcBef>
                <a:spcPct val="0"/>
              </a:spcBef>
            </a:pPr>
            <a:r>
              <a:rPr lang="en-US" b="true" sz="1599">
                <a:solidFill>
                  <a:srgbClr val="02CDFF"/>
                </a:solidFill>
                <a:latin typeface="Open Sans Bold"/>
                <a:ea typeface="Open Sans Bold"/>
                <a:cs typeface="Open Sans Bold"/>
                <a:sym typeface="Open Sans Bold"/>
              </a:rPr>
              <a:t>Le trou de données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04</a:t>
            </a:r>
          </a:p>
        </p:txBody>
      </p:sp>
      <p:grpSp>
        <p:nvGrpSpPr>
          <p:cNvPr name="Group 18" id="18"/>
          <p:cNvGrpSpPr/>
          <p:nvPr/>
        </p:nvGrpSpPr>
        <p:grpSpPr>
          <a:xfrm rot="0">
            <a:off x="1039108" y="1028700"/>
            <a:ext cx="4893363" cy="8239125"/>
            <a:chOff x="0" y="0"/>
            <a:chExt cx="6524484" cy="10985500"/>
          </a:xfrm>
        </p:grpSpPr>
        <p:pic>
          <p:nvPicPr>
            <p:cNvPr name="Picture 19" id="19"/>
            <p:cNvPicPr>
              <a:picLocks noChangeAspect="true"/>
            </p:cNvPicPr>
            <p:nvPr/>
          </p:nvPicPr>
          <p:blipFill>
            <a:blip r:embed="rId5"/>
            <a:stretch>
              <a:fillRect/>
            </a:stretch>
          </p:blipFill>
          <p:spPr>
            <a:xfrm flipH="false" flipV="false">
              <a:off x="0" y="0"/>
              <a:ext cx="6524484" cy="10985500"/>
            </a:xfrm>
            <a:prstGeom prst="rect">
              <a:avLst/>
            </a:prstGeom>
          </p:spPr>
        </p:pic>
      </p:grpSp>
      <p:sp>
        <p:nvSpPr>
          <p:cNvPr name="TextBox 20" id="20"/>
          <p:cNvSpPr txBox="true"/>
          <p:nvPr/>
        </p:nvSpPr>
        <p:spPr>
          <a:xfrm rot="0">
            <a:off x="7613832" y="2367482"/>
            <a:ext cx="9207707"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La qualité</a:t>
            </a:r>
          </a:p>
        </p:txBody>
      </p:sp>
      <p:sp>
        <p:nvSpPr>
          <p:cNvPr name="TextBox 21" id="21"/>
          <p:cNvSpPr txBox="true"/>
          <p:nvPr/>
        </p:nvSpPr>
        <p:spPr>
          <a:xfrm rot="0">
            <a:off x="7613832" y="4179357"/>
            <a:ext cx="8346855" cy="82706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Avant de traiter 267 millions de lignes, une journée est chargée seule pour comprendre la structure. Trois constats en sortent, et chacun conditionne un choix de traitement.</a:t>
            </a:r>
          </a:p>
        </p:txBody>
      </p:sp>
      <p:sp>
        <p:nvSpPr>
          <p:cNvPr name="TextBox 22" id="22"/>
          <p:cNvSpPr txBox="true"/>
          <p:nvPr/>
        </p:nvSpPr>
        <p:spPr>
          <a:xfrm rot="0">
            <a:off x="7613832" y="6531815"/>
            <a:ext cx="3642004"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Entre 41 % et 69 % des cellules sont vides selon le canal. Ce n'est pas un défaut : chaque ligne ne renseigne que les activités réellement observées pour son triplet. L'agrégation somme donc sans imputer ni supprimer.</a:t>
            </a:r>
          </a:p>
        </p:txBody>
      </p:sp>
      <p:sp>
        <p:nvSpPr>
          <p:cNvPr name="TextBox 23" id="23"/>
          <p:cNvSpPr txBox="true"/>
          <p:nvPr/>
        </p:nvSpPr>
        <p:spPr>
          <a:xfrm rot="0">
            <a:off x="7613832" y="5923716"/>
            <a:ext cx="2699443" cy="264086"/>
          </a:xfrm>
          <a:prstGeom prst="rect">
            <a:avLst/>
          </a:prstGeom>
        </p:spPr>
        <p:txBody>
          <a:bodyPr anchor="t" rtlCol="false" tIns="0" lIns="0" bIns="0" rIns="0">
            <a:spAutoFit/>
          </a:bodyPr>
          <a:lstStyle/>
          <a:p>
            <a:pPr algn="l">
              <a:lnSpc>
                <a:spcPts val="2239"/>
              </a:lnSpc>
              <a:spcBef>
                <a:spcPct val="0"/>
              </a:spcBef>
            </a:pPr>
            <a:r>
              <a:rPr lang="en-US" b="true" sz="1599">
                <a:solidFill>
                  <a:srgbClr val="02CDFF"/>
                </a:solidFill>
                <a:latin typeface="Open Sans Bold"/>
                <a:ea typeface="Open Sans Bold"/>
                <a:cs typeface="Open Sans Bold"/>
                <a:sym typeface="Open Sans Bold"/>
              </a:rPr>
              <a:t>La parcimonie apparente</a:t>
            </a:r>
          </a:p>
        </p:txBody>
      </p:sp>
      <p:sp>
        <p:nvSpPr>
          <p:cNvPr name="TextBox 24" id="24"/>
          <p:cNvSpPr txBox="true"/>
          <p:nvPr/>
        </p:nvSpPr>
        <p:spPr>
          <a:xfrm rot="0">
            <a:off x="12318682" y="6531815"/>
            <a:ext cx="3642004"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Les valeurs sont continues, souvent inférieures à 1 : elles sont anonymisées et normalisées. Sur l'Internet, ce sont des CDR — un enregistrement tous les quarts d'heure ou tous les 5 Mo. On mesure une intensité d'usage, pas des personnes.</a:t>
            </a:r>
          </a:p>
        </p:txBody>
      </p:sp>
      <p:sp>
        <p:nvSpPr>
          <p:cNvPr name="TextBox 25" id="25"/>
          <p:cNvSpPr txBox="true"/>
          <p:nvPr/>
        </p:nvSpPr>
        <p:spPr>
          <a:xfrm rot="0">
            <a:off x="12318682" y="5923716"/>
            <a:ext cx="2699443" cy="264086"/>
          </a:xfrm>
          <a:prstGeom prst="rect">
            <a:avLst/>
          </a:prstGeom>
        </p:spPr>
        <p:txBody>
          <a:bodyPr anchor="t" rtlCol="false" tIns="0" lIns="0" bIns="0" rIns="0">
            <a:spAutoFit/>
          </a:bodyPr>
          <a:lstStyle/>
          <a:p>
            <a:pPr algn="l">
              <a:lnSpc>
                <a:spcPts val="2239"/>
              </a:lnSpc>
              <a:spcBef>
                <a:spcPct val="0"/>
              </a:spcBef>
            </a:pPr>
            <a:r>
              <a:rPr lang="en-US" b="true" sz="1599">
                <a:solidFill>
                  <a:srgbClr val="02CDFF"/>
                </a:solidFill>
                <a:latin typeface="Open Sans Bold"/>
                <a:ea typeface="Open Sans Bold"/>
                <a:cs typeface="Open Sans Bold"/>
                <a:sym typeface="Open Sans Bold"/>
              </a:rPr>
              <a:t>La nature des mesures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05</a:t>
            </a:r>
          </a:p>
        </p:txBody>
      </p:sp>
      <p:grpSp>
        <p:nvGrpSpPr>
          <p:cNvPr name="Group 18" id="18"/>
          <p:cNvGrpSpPr/>
          <p:nvPr/>
        </p:nvGrpSpPr>
        <p:grpSpPr>
          <a:xfrm rot="0">
            <a:off x="12703775" y="1028700"/>
            <a:ext cx="4555525" cy="4567684"/>
            <a:chOff x="0" y="0"/>
            <a:chExt cx="6074033" cy="6090246"/>
          </a:xfrm>
        </p:grpSpPr>
        <p:pic>
          <p:nvPicPr>
            <p:cNvPr name="Picture 19" id="19"/>
            <p:cNvPicPr>
              <a:picLocks noChangeAspect="true"/>
            </p:cNvPicPr>
            <p:nvPr/>
          </p:nvPicPr>
          <p:blipFill>
            <a:blip r:embed="rId7"/>
            <a:stretch>
              <a:fillRect/>
            </a:stretch>
          </p:blipFill>
          <p:spPr>
            <a:xfrm flipH="false" flipV="false">
              <a:off x="0" y="0"/>
              <a:ext cx="6074033" cy="6090246"/>
            </a:xfrm>
            <a:prstGeom prst="rect">
              <a:avLst/>
            </a:prstGeom>
          </p:spPr>
        </p:pic>
      </p:grpSp>
      <p:grpSp>
        <p:nvGrpSpPr>
          <p:cNvPr name="Group 20" id="20"/>
          <p:cNvGrpSpPr/>
          <p:nvPr/>
        </p:nvGrpSpPr>
        <p:grpSpPr>
          <a:xfrm rot="0">
            <a:off x="7889954" y="1028700"/>
            <a:ext cx="4555525" cy="4567684"/>
            <a:chOff x="0" y="0"/>
            <a:chExt cx="6074033" cy="6090246"/>
          </a:xfrm>
        </p:grpSpPr>
        <p:pic>
          <p:nvPicPr>
            <p:cNvPr name="Picture 21" id="21"/>
            <p:cNvPicPr>
              <a:picLocks noChangeAspect="true"/>
            </p:cNvPicPr>
            <p:nvPr/>
          </p:nvPicPr>
          <p:blipFill>
            <a:blip r:embed="rId6"/>
            <a:stretch>
              <a:fillRect/>
            </a:stretch>
          </p:blipFill>
          <p:spPr>
            <a:xfrm flipH="false" flipV="false">
              <a:off x="0" y="0"/>
              <a:ext cx="6074033" cy="6090246"/>
            </a:xfrm>
            <a:prstGeom prst="rect">
              <a:avLst/>
            </a:prstGeom>
          </p:spPr>
        </p:pic>
      </p:grpSp>
      <p:sp>
        <p:nvSpPr>
          <p:cNvPr name="TextBox 22" id="22"/>
          <p:cNvSpPr txBox="true"/>
          <p:nvPr/>
        </p:nvSpPr>
        <p:spPr>
          <a:xfrm rot="0">
            <a:off x="2149968" y="2433141"/>
            <a:ext cx="4125510" cy="1825476"/>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Deux constats</a:t>
            </a:r>
          </a:p>
        </p:txBody>
      </p:sp>
      <p:grpSp>
        <p:nvGrpSpPr>
          <p:cNvPr name="Group 23" id="23"/>
          <p:cNvGrpSpPr/>
          <p:nvPr/>
        </p:nvGrpSpPr>
        <p:grpSpPr>
          <a:xfrm rot="0">
            <a:off x="2149968" y="6929602"/>
            <a:ext cx="677751" cy="677751"/>
            <a:chOff x="0" y="0"/>
            <a:chExt cx="178502" cy="178502"/>
          </a:xfrm>
        </p:grpSpPr>
        <p:sp>
          <p:nvSpPr>
            <p:cNvPr name="Freeform 24" id="2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5" id="2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147088"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Médiane très basse, maximum plusieurs centaines de fois supérieur. Un découpage en tranches de valeurs égales mettrait presque tout dans la première.</a:t>
            </a:r>
          </a:p>
        </p:txBody>
      </p:sp>
      <p:sp>
        <p:nvSpPr>
          <p:cNvPr name="TextBox 27" id="27"/>
          <p:cNvSpPr txBox="true"/>
          <p:nvPr/>
        </p:nvSpPr>
        <p:spPr>
          <a:xfrm rot="0">
            <a:off x="2240788"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8" id="28"/>
          <p:cNvSpPr txBox="true"/>
          <p:nvPr/>
        </p:nvSpPr>
        <p:spPr>
          <a:xfrm rot="0">
            <a:off x="3147088"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Asymétrie</a:t>
            </a:r>
          </a:p>
        </p:txBody>
      </p:sp>
      <p:grpSp>
        <p:nvGrpSpPr>
          <p:cNvPr name="Group 29" id="29"/>
          <p:cNvGrpSpPr/>
          <p:nvPr/>
        </p:nvGrpSpPr>
        <p:grpSpPr>
          <a:xfrm rot="0">
            <a:off x="7165149" y="6929602"/>
            <a:ext cx="677751" cy="677751"/>
            <a:chOff x="0" y="0"/>
            <a:chExt cx="178502" cy="178502"/>
          </a:xfrm>
        </p:grpSpPr>
        <p:sp>
          <p:nvSpPr>
            <p:cNvPr name="Freeform 30" id="3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1" id="3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8162270"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centre concentre une activité sans commune mesure avec la périphérie. Les trois classements — SMS, appels, Internet — désignent d'ailleurs les mêmes cellules.</a:t>
            </a:r>
          </a:p>
        </p:txBody>
      </p:sp>
      <p:sp>
        <p:nvSpPr>
          <p:cNvPr name="TextBox 33" id="33"/>
          <p:cNvSpPr txBox="true"/>
          <p:nvPr/>
        </p:nvSpPr>
        <p:spPr>
          <a:xfrm rot="0">
            <a:off x="7255969"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4" id="34"/>
          <p:cNvSpPr txBox="true"/>
          <p:nvPr/>
        </p:nvSpPr>
        <p:spPr>
          <a:xfrm rot="0">
            <a:off x="8162270"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Hétérogénéité</a:t>
            </a:r>
          </a:p>
        </p:txBody>
      </p:sp>
      <p:grpSp>
        <p:nvGrpSpPr>
          <p:cNvPr name="Group 35" id="35"/>
          <p:cNvGrpSpPr/>
          <p:nvPr/>
        </p:nvGrpSpPr>
        <p:grpSpPr>
          <a:xfrm rot="0">
            <a:off x="12180330" y="6929602"/>
            <a:ext cx="677751" cy="677751"/>
            <a:chOff x="0" y="0"/>
            <a:chExt cx="178502" cy="178502"/>
          </a:xfrm>
        </p:grpSpPr>
        <p:sp>
          <p:nvSpPr>
            <p:cNvPr name="Freeform 36" id="36"/>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7" id="37"/>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13177451"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On encodera relativement à la médiane de chaque cellule, et on normalisera la détection cellule par cellule. Ce sont les deux décisions structurantes du travail.</a:t>
            </a:r>
          </a:p>
        </p:txBody>
      </p:sp>
      <p:sp>
        <p:nvSpPr>
          <p:cNvPr name="TextBox 39" id="39"/>
          <p:cNvSpPr txBox="true"/>
          <p:nvPr/>
        </p:nvSpPr>
        <p:spPr>
          <a:xfrm rot="0">
            <a:off x="12271150"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40" id="40"/>
          <p:cNvSpPr txBox="true"/>
          <p:nvPr/>
        </p:nvSpPr>
        <p:spPr>
          <a:xfrm rot="0">
            <a:off x="13177451"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Conséquence</a:t>
            </a:r>
          </a:p>
        </p:txBody>
      </p:sp>
      <p:sp>
        <p:nvSpPr>
          <p:cNvPr name="TextBox 41" id="41"/>
          <p:cNvSpPr txBox="true"/>
          <p:nvPr/>
        </p:nvSpPr>
        <p:spPr>
          <a:xfrm rot="0">
            <a:off x="2149968" y="4979611"/>
            <a:ext cx="4467162"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Les choix de méthode qui suivent ne sont pas arbitraires : ils découlent directement de la forme des données.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06</a:t>
            </a:r>
          </a:p>
        </p:txBody>
      </p:sp>
      <p:grpSp>
        <p:nvGrpSpPr>
          <p:cNvPr name="Group 18" id="18"/>
          <p:cNvGrpSpPr/>
          <p:nvPr/>
        </p:nvGrpSpPr>
        <p:grpSpPr>
          <a:xfrm rot="0">
            <a:off x="0" y="1028700"/>
            <a:ext cx="8207692" cy="8229600"/>
            <a:chOff x="0" y="0"/>
            <a:chExt cx="10943590" cy="10972800"/>
          </a:xfrm>
        </p:grpSpPr>
        <p:pic>
          <p:nvPicPr>
            <p:cNvPr name="Picture 19" id="19"/>
            <p:cNvPicPr>
              <a:picLocks noChangeAspect="true"/>
            </p:cNvPicPr>
            <p:nvPr/>
          </p:nvPicPr>
          <p:blipFill>
            <a:blip r:embed="rId5"/>
            <a:stretch>
              <a:fillRect/>
            </a:stretch>
          </p:blipFill>
          <p:spPr>
            <a:xfrm flipH="false" flipV="false">
              <a:off x="0" y="0"/>
              <a:ext cx="10943590" cy="10972800"/>
            </a:xfrm>
            <a:prstGeom prst="rect">
              <a:avLst/>
            </a:prstGeom>
          </p:spPr>
        </p:pic>
      </p:grpSp>
      <p:sp>
        <p:nvSpPr>
          <p:cNvPr name="TextBox 20" id="20"/>
          <p:cNvSpPr txBox="true"/>
          <p:nvPr/>
        </p:nvSpPr>
        <p:spPr>
          <a:xfrm rot="0">
            <a:off x="9819398" y="1970724"/>
            <a:ext cx="4125510"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Le cadre</a:t>
            </a:r>
          </a:p>
        </p:txBody>
      </p:sp>
      <p:grpSp>
        <p:nvGrpSpPr>
          <p:cNvPr name="Group 21" id="21"/>
          <p:cNvGrpSpPr/>
          <p:nvPr/>
        </p:nvGrpSpPr>
        <p:grpSpPr>
          <a:xfrm rot="0">
            <a:off x="9819398" y="3768356"/>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816519" y="4105581"/>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DiNATrAX (Maudoux &amp; Boumerdassi, IEEE ICC 2024) corrige une méthode antérieure des mêmes auteurs, qui exigeait qu'un opérateur compare visuellement deux graphiques.</a:t>
            </a:r>
          </a:p>
        </p:txBody>
      </p:sp>
      <p:sp>
        <p:nvSpPr>
          <p:cNvPr name="TextBox 25" id="25"/>
          <p:cNvSpPr txBox="true"/>
          <p:nvPr/>
        </p:nvSpPr>
        <p:spPr>
          <a:xfrm rot="0">
            <a:off x="9910219" y="394435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10816519" y="3739781"/>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L'origine</a:t>
            </a:r>
          </a:p>
        </p:txBody>
      </p:sp>
      <p:grpSp>
        <p:nvGrpSpPr>
          <p:cNvPr name="Group 27" id="27"/>
          <p:cNvGrpSpPr/>
          <p:nvPr/>
        </p:nvGrpSpPr>
        <p:grpSpPr>
          <a:xfrm rot="0">
            <a:off x="9819398" y="5598655"/>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0816519" y="5935880"/>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Encoder un comportement réseau en chaîne de caractères. Une fois qu'on a un mot, une machine peut le comparer à un autre mot toute seule, avec une distance d'édition.</a:t>
            </a:r>
          </a:p>
        </p:txBody>
      </p:sp>
      <p:sp>
        <p:nvSpPr>
          <p:cNvPr name="TextBox 31" id="31"/>
          <p:cNvSpPr txBox="true"/>
          <p:nvPr/>
        </p:nvSpPr>
        <p:spPr>
          <a:xfrm rot="0">
            <a:off x="9910219" y="577465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0816519" y="5570080"/>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L'idée centrale</a:t>
            </a:r>
          </a:p>
        </p:txBody>
      </p:sp>
      <p:grpSp>
        <p:nvGrpSpPr>
          <p:cNvPr name="Group 33" id="33"/>
          <p:cNvGrpSpPr/>
          <p:nvPr/>
        </p:nvGrpSpPr>
        <p:grpSpPr>
          <a:xfrm rot="0">
            <a:off x="9819398" y="7428953"/>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0816519" y="7766178"/>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L'automatisation de la détection. C'est cet apport que je reprends — pas l'architecture en trois blocs, qui suppose un contexte réseau différent du mien.</a:t>
            </a:r>
          </a:p>
        </p:txBody>
      </p:sp>
      <p:sp>
        <p:nvSpPr>
          <p:cNvPr name="TextBox 37" id="37"/>
          <p:cNvSpPr txBox="true"/>
          <p:nvPr/>
        </p:nvSpPr>
        <p:spPr>
          <a:xfrm rot="0">
            <a:off x="9910219" y="760495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10816519" y="7400378"/>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Ce que ça débloque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07</a:t>
            </a:r>
          </a:p>
        </p:txBody>
      </p:sp>
      <p:grpSp>
        <p:nvGrpSpPr>
          <p:cNvPr name="Group 18" id="18"/>
          <p:cNvGrpSpPr/>
          <p:nvPr/>
        </p:nvGrpSpPr>
        <p:grpSpPr>
          <a:xfrm rot="0">
            <a:off x="0" y="1028700"/>
            <a:ext cx="8207692" cy="8229600"/>
            <a:chOff x="0" y="0"/>
            <a:chExt cx="10943590" cy="10972800"/>
          </a:xfrm>
        </p:grpSpPr>
        <p:pic>
          <p:nvPicPr>
            <p:cNvPr name="Picture 19" id="19"/>
            <p:cNvPicPr>
              <a:picLocks noChangeAspect="true"/>
            </p:cNvPicPr>
            <p:nvPr/>
          </p:nvPicPr>
          <p:blipFill>
            <a:blip r:embed="rId5"/>
            <a:stretch>
              <a:fillRect/>
            </a:stretch>
          </p:blipFill>
          <p:spPr>
            <a:xfrm flipH="false" flipV="false">
              <a:off x="0" y="0"/>
              <a:ext cx="10943590" cy="10972800"/>
            </a:xfrm>
            <a:prstGeom prst="rect">
              <a:avLst/>
            </a:prstGeom>
          </p:spPr>
        </p:pic>
      </p:grpSp>
      <p:sp>
        <p:nvSpPr>
          <p:cNvPr name="TextBox 20" id="20"/>
          <p:cNvSpPr txBox="true"/>
          <p:nvPr/>
        </p:nvSpPr>
        <p:spPr>
          <a:xfrm rot="0">
            <a:off x="9819398" y="1970724"/>
            <a:ext cx="4125510" cy="1691640"/>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Le découpage</a:t>
            </a:r>
          </a:p>
        </p:txBody>
      </p:sp>
      <p:grpSp>
        <p:nvGrpSpPr>
          <p:cNvPr name="Group 21" id="21"/>
          <p:cNvGrpSpPr/>
          <p:nvPr/>
        </p:nvGrpSpPr>
        <p:grpSpPr>
          <a:xfrm rot="0">
            <a:off x="9819398" y="3768356"/>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816519" y="4105581"/>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DiNATrAX structure le temps sur trois niveaux emboîtés : une période d'observation, découpée en tranches, elles-mêmes échantillonnées en créneaux.</a:t>
            </a:r>
          </a:p>
        </p:txBody>
      </p:sp>
      <p:sp>
        <p:nvSpPr>
          <p:cNvPr name="TextBox 25" id="25"/>
          <p:cNvSpPr txBox="true"/>
          <p:nvPr/>
        </p:nvSpPr>
        <p:spPr>
          <a:xfrm rot="0">
            <a:off x="9910219" y="394435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10816519" y="3739781"/>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Trois échelles</a:t>
            </a:r>
          </a:p>
        </p:txBody>
      </p:sp>
      <p:grpSp>
        <p:nvGrpSpPr>
          <p:cNvPr name="Group 27" id="27"/>
          <p:cNvGrpSpPr/>
          <p:nvPr/>
        </p:nvGrpSpPr>
        <p:grpSpPr>
          <a:xfrm rot="0">
            <a:off x="9819398" y="5598655"/>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0816519" y="5935880"/>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 période devient le type de jour, la tranche devient une journée, le créneau devient une heure. Une signature couvre donc une journée entière, décrite heure par heure.</a:t>
            </a:r>
          </a:p>
        </p:txBody>
      </p:sp>
      <p:sp>
        <p:nvSpPr>
          <p:cNvPr name="TextBox 31" id="31"/>
          <p:cNvSpPr txBox="true"/>
          <p:nvPr/>
        </p:nvSpPr>
        <p:spPr>
          <a:xfrm rot="0">
            <a:off x="9910219" y="577465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0816519" y="5570080"/>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 transposition</a:t>
            </a:r>
          </a:p>
        </p:txBody>
      </p:sp>
      <p:grpSp>
        <p:nvGrpSpPr>
          <p:cNvPr name="Group 33" id="33"/>
          <p:cNvGrpSpPr/>
          <p:nvPr/>
        </p:nvGrpSpPr>
        <p:grpSpPr>
          <a:xfrm rot="0">
            <a:off x="9819398" y="7428953"/>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0816519" y="7766178"/>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L'heure est assez fine pour voir un pic d'activité, assez large pour que la signature reste stable. Un grain de dix minutes multiplierait le bruit sans gain de sens.</a:t>
            </a:r>
          </a:p>
        </p:txBody>
      </p:sp>
      <p:sp>
        <p:nvSpPr>
          <p:cNvPr name="TextBox 37" id="37"/>
          <p:cNvSpPr txBox="true"/>
          <p:nvPr/>
        </p:nvSpPr>
        <p:spPr>
          <a:xfrm rot="0">
            <a:off x="9910219" y="760495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10816519" y="7400378"/>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L'arbitrage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08</a:t>
            </a:r>
          </a:p>
        </p:txBody>
      </p:sp>
      <p:grpSp>
        <p:nvGrpSpPr>
          <p:cNvPr name="Group 18" id="18"/>
          <p:cNvGrpSpPr/>
          <p:nvPr/>
        </p:nvGrpSpPr>
        <p:grpSpPr>
          <a:xfrm rot="0">
            <a:off x="0" y="1028700"/>
            <a:ext cx="6133945" cy="9258300"/>
            <a:chOff x="0" y="0"/>
            <a:chExt cx="8178594" cy="12344400"/>
          </a:xfrm>
        </p:grpSpPr>
        <p:pic>
          <p:nvPicPr>
            <p:cNvPr name="Picture 19" id="19"/>
            <p:cNvPicPr>
              <a:picLocks noChangeAspect="true"/>
            </p:cNvPicPr>
            <p:nvPr/>
          </p:nvPicPr>
          <p:blipFill>
            <a:blip r:embed="rId6"/>
            <a:stretch>
              <a:fillRect/>
            </a:stretch>
          </p:blipFill>
          <p:spPr>
            <a:xfrm flipH="false" flipV="false">
              <a:off x="0" y="0"/>
              <a:ext cx="8178594" cy="12344400"/>
            </a:xfrm>
            <a:prstGeom prst="rect">
              <a:avLst/>
            </a:prstGeom>
          </p:spPr>
        </p:pic>
      </p:grpSp>
      <p:sp>
        <p:nvSpPr>
          <p:cNvPr name="TextBox 20" id="20"/>
          <p:cNvSpPr txBox="true"/>
          <p:nvPr/>
        </p:nvSpPr>
        <p:spPr>
          <a:xfrm rot="0">
            <a:off x="7477913" y="1991118"/>
            <a:ext cx="4125510"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Adapter</a:t>
            </a:r>
          </a:p>
        </p:txBody>
      </p:sp>
      <p:grpSp>
        <p:nvGrpSpPr>
          <p:cNvPr name="Group 21" id="21"/>
          <p:cNvGrpSpPr/>
          <p:nvPr/>
        </p:nvGrpSpPr>
        <p:grpSpPr>
          <a:xfrm rot="0">
            <a:off x="7477913" y="3788751"/>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475034"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L'encodage en chaîne et la distance d'édition sont repris tels quels. C'est l'apport de l'article, et il fonctionne indépendamment du type de données.</a:t>
            </a:r>
          </a:p>
        </p:txBody>
      </p:sp>
      <p:sp>
        <p:nvSpPr>
          <p:cNvPr name="TextBox 25" id="25"/>
          <p:cNvSpPr txBox="true"/>
          <p:nvPr/>
        </p:nvSpPr>
        <p:spPr>
          <a:xfrm rot="0">
            <a:off x="7568734"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8475034"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principe</a:t>
            </a:r>
          </a:p>
        </p:txBody>
      </p:sp>
      <p:grpSp>
        <p:nvGrpSpPr>
          <p:cNvPr name="Group 27" id="27"/>
          <p:cNvGrpSpPr/>
          <p:nvPr/>
        </p:nvGrpSpPr>
        <p:grpSpPr>
          <a:xfrm rot="0">
            <a:off x="12364545" y="3788751"/>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3361666"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L'article regroupe les antennes par densité géographique. Ici le maillage est déjà fourni : la cellule est la zone d'analyse, il n'y a rien à regrouper.</a:t>
            </a:r>
          </a:p>
        </p:txBody>
      </p:sp>
      <p:sp>
        <p:nvSpPr>
          <p:cNvPr name="TextBox 31" id="31"/>
          <p:cNvSpPr txBox="true"/>
          <p:nvPr/>
        </p:nvSpPr>
        <p:spPr>
          <a:xfrm rot="0">
            <a:off x="12455365"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3361666"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spatial</a:t>
            </a:r>
          </a:p>
        </p:txBody>
      </p:sp>
      <p:grpSp>
        <p:nvGrpSpPr>
          <p:cNvPr name="Group 33" id="33"/>
          <p:cNvGrpSpPr/>
          <p:nvPr/>
        </p:nvGrpSpPr>
        <p:grpSpPr>
          <a:xfrm rot="0">
            <a:off x="7477913" y="6513804"/>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8475034"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L'article regroupe dix-neuf types d'applications par niveau d'usage. Mon dataset ne porte aucune catégorie, seulement des volumes : le clustering n'a pas d'objet.</a:t>
            </a:r>
          </a:p>
        </p:txBody>
      </p:sp>
      <p:sp>
        <p:nvSpPr>
          <p:cNvPr name="TextBox 37" id="37"/>
          <p:cNvSpPr txBox="true"/>
          <p:nvPr/>
        </p:nvSpPr>
        <p:spPr>
          <a:xfrm rot="0">
            <a:off x="7568734"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8475034"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clustering</a:t>
            </a:r>
          </a:p>
        </p:txBody>
      </p:sp>
      <p:grpSp>
        <p:nvGrpSpPr>
          <p:cNvPr name="Group 39" id="39"/>
          <p:cNvGrpSpPr/>
          <p:nvPr/>
        </p:nvGrpSpPr>
        <p:grpSpPr>
          <a:xfrm rot="0">
            <a:off x="12364545" y="6513804"/>
            <a:ext cx="677751" cy="677751"/>
            <a:chOff x="0" y="0"/>
            <a:chExt cx="178502" cy="178502"/>
          </a:xfrm>
        </p:grpSpPr>
        <p:sp>
          <p:nvSpPr>
            <p:cNvPr name="Freeform 40" id="4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41" id="4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361666"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L'objet encodé change de nature. Chez eux la signature décrit une répartition entre catégories ; chez moi, un profil d'intensité dans le temps.</a:t>
            </a:r>
          </a:p>
        </p:txBody>
      </p:sp>
      <p:sp>
        <p:nvSpPr>
          <p:cNvPr name="TextBox 43" id="43"/>
          <p:cNvSpPr txBox="true"/>
          <p:nvPr/>
        </p:nvSpPr>
        <p:spPr>
          <a:xfrm rot="0">
            <a:off x="12455365"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
        <p:nvSpPr>
          <p:cNvPr name="TextBox 44" id="44"/>
          <p:cNvSpPr txBox="true"/>
          <p:nvPr/>
        </p:nvSpPr>
        <p:spPr>
          <a:xfrm rot="0">
            <a:off x="13361666"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 conséquence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09</a:t>
            </a:r>
          </a:p>
        </p:txBody>
      </p:sp>
      <p:grpSp>
        <p:nvGrpSpPr>
          <p:cNvPr name="Group 18" id="18"/>
          <p:cNvGrpSpPr/>
          <p:nvPr/>
        </p:nvGrpSpPr>
        <p:grpSpPr>
          <a:xfrm rot="0">
            <a:off x="13154289" y="1028700"/>
            <a:ext cx="4109526" cy="8229600"/>
            <a:chOff x="0" y="0"/>
            <a:chExt cx="5479368" cy="10972800"/>
          </a:xfrm>
        </p:grpSpPr>
        <p:pic>
          <p:nvPicPr>
            <p:cNvPr name="Picture 19" id="19"/>
            <p:cNvPicPr>
              <a:picLocks noChangeAspect="true"/>
            </p:cNvPicPr>
            <p:nvPr/>
          </p:nvPicPr>
          <p:blipFill>
            <a:blip r:embed="rId7"/>
            <a:stretch>
              <a:fillRect/>
            </a:stretch>
          </p:blipFill>
          <p:spPr>
            <a:xfrm flipH="false" flipV="false">
              <a:off x="0" y="0"/>
              <a:ext cx="5479368" cy="10972800"/>
            </a:xfrm>
            <a:prstGeom prst="rect">
              <a:avLst/>
            </a:prstGeom>
          </p:spPr>
        </p:pic>
      </p:grpSp>
      <p:grpSp>
        <p:nvGrpSpPr>
          <p:cNvPr name="Group 20" id="20"/>
          <p:cNvGrpSpPr/>
          <p:nvPr/>
        </p:nvGrpSpPr>
        <p:grpSpPr>
          <a:xfrm rot="0">
            <a:off x="8847225" y="1038225"/>
            <a:ext cx="4109526" cy="8229600"/>
            <a:chOff x="0" y="0"/>
            <a:chExt cx="5479368" cy="10972800"/>
          </a:xfrm>
        </p:grpSpPr>
        <p:pic>
          <p:nvPicPr>
            <p:cNvPr name="Picture 21" id="21"/>
            <p:cNvPicPr>
              <a:picLocks noChangeAspect="true"/>
            </p:cNvPicPr>
            <p:nvPr/>
          </p:nvPicPr>
          <p:blipFill>
            <a:blip r:embed="rId5"/>
            <a:stretch>
              <a:fillRect/>
            </a:stretch>
          </p:blipFill>
          <p:spPr>
            <a:xfrm flipH="false" flipV="false">
              <a:off x="0" y="0"/>
              <a:ext cx="5479368" cy="10972800"/>
            </a:xfrm>
            <a:prstGeom prst="rect">
              <a:avLst/>
            </a:prstGeom>
          </p:spPr>
        </p:pic>
      </p:grpSp>
      <p:sp>
        <p:nvSpPr>
          <p:cNvPr name="TextBox 22" id="22"/>
          <p:cNvSpPr txBox="true"/>
          <p:nvPr/>
        </p:nvSpPr>
        <p:spPr>
          <a:xfrm rot="0">
            <a:off x="2176959" y="1991118"/>
            <a:ext cx="4125510" cy="1691640"/>
          </a:xfrm>
          <a:prstGeom prst="rect">
            <a:avLst/>
          </a:prstGeom>
        </p:spPr>
        <p:txBody>
          <a:bodyPr anchor="t" rtlCol="false" tIns="0" lIns="0" bIns="0" rIns="0">
            <a:spAutoFit/>
          </a:bodyPr>
          <a:lstStyle/>
          <a:p>
            <a:pPr algn="l">
              <a:lnSpc>
                <a:spcPts val="7150"/>
              </a:lnSpc>
            </a:pPr>
            <a:r>
              <a:rPr lang="en-US" sz="4200" b="true">
                <a:solidFill>
                  <a:srgbClr val="02CDFF"/>
                </a:solidFill>
                <a:latin typeface="Barlow Condensed Bold"/>
                <a:ea typeface="Barlow Condensed Bold"/>
                <a:cs typeface="Barlow Condensed Bold"/>
                <a:sym typeface="Barlow Condensed Bold"/>
              </a:rPr>
              <a:t>La nomenclature</a:t>
            </a:r>
          </a:p>
        </p:txBody>
      </p:sp>
      <p:grpSp>
        <p:nvGrpSpPr>
          <p:cNvPr name="Group 23" id="23"/>
          <p:cNvGrpSpPr/>
          <p:nvPr/>
        </p:nvGrpSpPr>
        <p:grpSpPr>
          <a:xfrm rot="0">
            <a:off x="2176959" y="3788751"/>
            <a:ext cx="677751" cy="677751"/>
            <a:chOff x="0" y="0"/>
            <a:chExt cx="178502" cy="178502"/>
          </a:xfrm>
        </p:grpSpPr>
        <p:sp>
          <p:nvSpPr>
            <p:cNvPr name="Freeform 24" id="2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5" id="2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174080" y="4183126"/>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Chaque lettre correspond à un multiple de la médiane horaire de la cellule. Une seule table de six lignes vaut pour les 10 000 cellules, et resterait applicable à un autre jeu de données ou à une autre ville.</a:t>
            </a:r>
          </a:p>
        </p:txBody>
      </p:sp>
      <p:sp>
        <p:nvSpPr>
          <p:cNvPr name="TextBox 27" id="27"/>
          <p:cNvSpPr txBox="true"/>
          <p:nvPr/>
        </p:nvSpPr>
        <p:spPr>
          <a:xfrm rot="0">
            <a:off x="2267779"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8" id="28"/>
          <p:cNvSpPr txBox="true"/>
          <p:nvPr/>
        </p:nvSpPr>
        <p:spPr>
          <a:xfrm rot="0">
            <a:off x="3174080"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Une règle publiée</a:t>
            </a:r>
          </a:p>
        </p:txBody>
      </p:sp>
      <p:grpSp>
        <p:nvGrpSpPr>
          <p:cNvPr name="Group 29" id="29"/>
          <p:cNvGrpSpPr/>
          <p:nvPr/>
        </p:nvGrpSpPr>
        <p:grpSpPr>
          <a:xfrm rot="0">
            <a:off x="2176959" y="6513804"/>
            <a:ext cx="677751" cy="677751"/>
            <a:chOff x="0" y="0"/>
            <a:chExt cx="178502" cy="178502"/>
          </a:xfrm>
        </p:grpSpPr>
        <p:sp>
          <p:nvSpPr>
            <p:cNvPr name="Freeform 30" id="3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1" id="3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3174080" y="6908179"/>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 médiane est propre à chaque cellule, donc un F signifie « pointe d'activité pour cette zone » et non un volume absolu. C'est ce qui rend une cellule calme et une cellule du centre comparables — et ce qui permettra d'encoder chaque heure à la volée.</a:t>
            </a:r>
          </a:p>
        </p:txBody>
      </p:sp>
      <p:sp>
        <p:nvSpPr>
          <p:cNvPr name="TextBox 33" id="33"/>
          <p:cNvSpPr txBox="true"/>
          <p:nvPr/>
        </p:nvSpPr>
        <p:spPr>
          <a:xfrm rot="0">
            <a:off x="2267779"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4" id="34"/>
          <p:cNvSpPr txBox="true"/>
          <p:nvPr/>
        </p:nvSpPr>
        <p:spPr>
          <a:xfrm rot="0">
            <a:off x="3174080"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Relative mais explicite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10</a:t>
            </a:r>
          </a:p>
        </p:txBody>
      </p:sp>
      <p:grpSp>
        <p:nvGrpSpPr>
          <p:cNvPr name="Group 18" id="18"/>
          <p:cNvGrpSpPr/>
          <p:nvPr/>
        </p:nvGrpSpPr>
        <p:grpSpPr>
          <a:xfrm rot="0">
            <a:off x="13154289" y="1028700"/>
            <a:ext cx="4109526" cy="8229600"/>
            <a:chOff x="0" y="0"/>
            <a:chExt cx="5479368" cy="10972800"/>
          </a:xfrm>
        </p:grpSpPr>
        <p:pic>
          <p:nvPicPr>
            <p:cNvPr name="Picture 19" id="19"/>
            <p:cNvPicPr>
              <a:picLocks noChangeAspect="true"/>
            </p:cNvPicPr>
            <p:nvPr/>
          </p:nvPicPr>
          <p:blipFill>
            <a:blip r:embed="rId6"/>
            <a:stretch>
              <a:fillRect/>
            </a:stretch>
          </p:blipFill>
          <p:spPr>
            <a:xfrm flipH="false" flipV="false">
              <a:off x="0" y="0"/>
              <a:ext cx="5479368" cy="10972800"/>
            </a:xfrm>
            <a:prstGeom prst="rect">
              <a:avLst/>
            </a:prstGeom>
          </p:spPr>
        </p:pic>
      </p:grpSp>
      <p:grpSp>
        <p:nvGrpSpPr>
          <p:cNvPr name="Group 20" id="20"/>
          <p:cNvGrpSpPr/>
          <p:nvPr/>
        </p:nvGrpSpPr>
        <p:grpSpPr>
          <a:xfrm rot="0">
            <a:off x="8847225" y="1038225"/>
            <a:ext cx="4109526" cy="8229600"/>
            <a:chOff x="0" y="0"/>
            <a:chExt cx="5479368" cy="10972800"/>
          </a:xfrm>
        </p:grpSpPr>
        <p:pic>
          <p:nvPicPr>
            <p:cNvPr name="Picture 21" id="21"/>
            <p:cNvPicPr>
              <a:picLocks noChangeAspect="true"/>
            </p:cNvPicPr>
            <p:nvPr/>
          </p:nvPicPr>
          <p:blipFill>
            <a:blip r:embed="rId5"/>
            <a:stretch>
              <a:fillRect/>
            </a:stretch>
          </p:blipFill>
          <p:spPr>
            <a:xfrm flipH="false" flipV="false">
              <a:off x="0" y="0"/>
              <a:ext cx="5479368" cy="10972800"/>
            </a:xfrm>
            <a:prstGeom prst="rect">
              <a:avLst/>
            </a:prstGeom>
          </p:spPr>
        </p:pic>
      </p:grpSp>
      <p:sp>
        <p:nvSpPr>
          <p:cNvPr name="TextBox 22" id="22"/>
          <p:cNvSpPr txBox="true"/>
          <p:nvPr/>
        </p:nvSpPr>
        <p:spPr>
          <a:xfrm rot="0">
            <a:off x="2176959" y="1991118"/>
            <a:ext cx="4125510" cy="1691640"/>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La calibration</a:t>
            </a:r>
          </a:p>
        </p:txBody>
      </p:sp>
      <p:grpSp>
        <p:nvGrpSpPr>
          <p:cNvPr name="Group 23" id="23"/>
          <p:cNvGrpSpPr/>
          <p:nvPr/>
        </p:nvGrpSpPr>
        <p:grpSpPr>
          <a:xfrm rot="0">
            <a:off x="2176959" y="3788751"/>
            <a:ext cx="677751" cy="677751"/>
            <a:chOff x="0" y="0"/>
            <a:chExt cx="178502" cy="178502"/>
          </a:xfrm>
        </p:grpSpPr>
        <p:sp>
          <p:nvSpPr>
            <p:cNvPr name="Freeform 24" id="2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5" id="2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174080" y="4183126"/>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Une première version utilisait des seuils « ronds » — 0,25 / 0,5 / 1 / 2 / 4 fois la médiane, des puissances de deux. Résultat : D absorbait 44 % des heures, les lettres ne travaillaient pas également, et le système sur-détectait.</a:t>
            </a:r>
          </a:p>
        </p:txBody>
      </p:sp>
      <p:sp>
        <p:nvSpPr>
          <p:cNvPr name="TextBox 27" id="27"/>
          <p:cNvSpPr txBox="true"/>
          <p:nvPr/>
        </p:nvSpPr>
        <p:spPr>
          <a:xfrm rot="0">
            <a:off x="2267779"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8" id="28"/>
          <p:cNvSpPr txBox="true"/>
          <p:nvPr/>
        </p:nvSpPr>
        <p:spPr>
          <a:xfrm rot="0">
            <a:off x="3174080"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Ce qui ne marchait pas</a:t>
            </a:r>
          </a:p>
        </p:txBody>
      </p:sp>
      <p:grpSp>
        <p:nvGrpSpPr>
          <p:cNvPr name="Group 29" id="29"/>
          <p:cNvGrpSpPr/>
          <p:nvPr/>
        </p:nvGrpSpPr>
        <p:grpSpPr>
          <a:xfrm rot="0">
            <a:off x="2176959" y="6513804"/>
            <a:ext cx="677751" cy="677751"/>
            <a:chOff x="0" y="0"/>
            <a:chExt cx="178502" cy="178502"/>
          </a:xfrm>
        </p:grpSpPr>
        <p:sp>
          <p:nvSpPr>
            <p:cNvPr name="Freeform 30" id="3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1" id="3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3174080" y="6908179"/>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Les seuils sont recalés sur les percentiles 5, 20, 50, 80 et 95 du rapport valeur sur médiane, mesurés sur les 12,5 millions d'observations du dataset. Les six lettres se rééquilibrent tout en gardant leur sens physique.</a:t>
            </a:r>
          </a:p>
        </p:txBody>
      </p:sp>
      <p:sp>
        <p:nvSpPr>
          <p:cNvPr name="TextBox 33" id="33"/>
          <p:cNvSpPr txBox="true"/>
          <p:nvPr/>
        </p:nvSpPr>
        <p:spPr>
          <a:xfrm rot="0">
            <a:off x="2267779"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4" id="34"/>
          <p:cNvSpPr txBox="true"/>
          <p:nvPr/>
        </p:nvSpPr>
        <p:spPr>
          <a:xfrm rot="0">
            <a:off x="3174080"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Ce qui marche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11</a:t>
            </a:r>
          </a:p>
        </p:txBody>
      </p:sp>
      <p:grpSp>
        <p:nvGrpSpPr>
          <p:cNvPr name="Group 18" id="18"/>
          <p:cNvGrpSpPr/>
          <p:nvPr/>
        </p:nvGrpSpPr>
        <p:grpSpPr>
          <a:xfrm rot="0">
            <a:off x="0" y="1028700"/>
            <a:ext cx="8207692" cy="8229600"/>
            <a:chOff x="0" y="0"/>
            <a:chExt cx="10943590" cy="10972800"/>
          </a:xfrm>
        </p:grpSpPr>
        <p:pic>
          <p:nvPicPr>
            <p:cNvPr name="Picture 19" id="19"/>
            <p:cNvPicPr>
              <a:picLocks noChangeAspect="true"/>
            </p:cNvPicPr>
            <p:nvPr/>
          </p:nvPicPr>
          <p:blipFill>
            <a:blip r:embed="rId5"/>
            <a:stretch>
              <a:fillRect/>
            </a:stretch>
          </p:blipFill>
          <p:spPr>
            <a:xfrm flipH="false" flipV="false">
              <a:off x="0" y="0"/>
              <a:ext cx="10943590" cy="10972800"/>
            </a:xfrm>
            <a:prstGeom prst="rect">
              <a:avLst/>
            </a:prstGeom>
          </p:spPr>
        </p:pic>
      </p:grpSp>
      <p:sp>
        <p:nvSpPr>
          <p:cNvPr name="TextBox 20" id="20"/>
          <p:cNvSpPr txBox="true"/>
          <p:nvPr/>
        </p:nvSpPr>
        <p:spPr>
          <a:xfrm rot="0">
            <a:off x="9819398" y="1970724"/>
            <a:ext cx="4125510" cy="1691640"/>
          </a:xfrm>
          <a:prstGeom prst="rect">
            <a:avLst/>
          </a:prstGeom>
        </p:spPr>
        <p:txBody>
          <a:bodyPr anchor="t" rtlCol="false" tIns="0" lIns="0" bIns="0" rIns="0">
            <a:spAutoFit/>
          </a:bodyPr>
          <a:lstStyle/>
          <a:p>
            <a:pPr algn="l">
              <a:lnSpc>
                <a:spcPts val="7150"/>
              </a:lnSpc>
            </a:pPr>
            <a:r>
              <a:rPr lang="en-US" sz="4200" b="true">
                <a:solidFill>
                  <a:srgbClr val="02CDFF"/>
                </a:solidFill>
                <a:latin typeface="Barlow Condensed Bold"/>
                <a:ea typeface="Barlow Condensed Bold"/>
                <a:cs typeface="Barlow Condensed Bold"/>
                <a:sym typeface="Barlow Condensed Bold"/>
              </a:rPr>
              <a:t>Une journée, un mot</a:t>
            </a:r>
          </a:p>
        </p:txBody>
      </p:sp>
      <p:grpSp>
        <p:nvGrpSpPr>
          <p:cNvPr name="Group 21" id="21"/>
          <p:cNvGrpSpPr/>
          <p:nvPr/>
        </p:nvGrpSpPr>
        <p:grpSpPr>
          <a:xfrm rot="0">
            <a:off x="9819398" y="3768356"/>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816519" y="4105581"/>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Une par heure, dans l'ordre chronologique. Chaque position a un sens fixe : la quatorzième lettre est toujours quatorze heures. C'est ce qui rendra la distance interprétable.</a:t>
            </a:r>
          </a:p>
        </p:txBody>
      </p:sp>
      <p:sp>
        <p:nvSpPr>
          <p:cNvPr name="TextBox 25" id="25"/>
          <p:cNvSpPr txBox="true"/>
          <p:nvPr/>
        </p:nvSpPr>
        <p:spPr>
          <a:xfrm rot="0">
            <a:off x="9910219" y="394435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10816519" y="3739781"/>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24 lettres</a:t>
            </a:r>
          </a:p>
        </p:txBody>
      </p:sp>
      <p:grpSp>
        <p:nvGrpSpPr>
          <p:cNvPr name="Group 27" id="27"/>
          <p:cNvGrpSpPr/>
          <p:nvPr/>
        </p:nvGrpSpPr>
        <p:grpSpPr>
          <a:xfrm rot="0">
            <a:off x="9819398" y="5598655"/>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0816519" y="5935880"/>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Creux nocturne de deux à six heures, reprise à sept heures, plateau de journée, pointes en fin d'après-midi. Rien de tout cela n'a été programmé.</a:t>
            </a:r>
          </a:p>
        </p:txBody>
      </p:sp>
      <p:sp>
        <p:nvSpPr>
          <p:cNvPr name="TextBox 31" id="31"/>
          <p:cNvSpPr txBox="true"/>
          <p:nvPr/>
        </p:nvSpPr>
        <p:spPr>
          <a:xfrm rot="0">
            <a:off x="9910219" y="577465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0816519" y="5570080"/>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Un cycle émerge</a:t>
            </a:r>
          </a:p>
        </p:txBody>
      </p:sp>
      <p:grpSp>
        <p:nvGrpSpPr>
          <p:cNvPr name="Group 33" id="33"/>
          <p:cNvGrpSpPr/>
          <p:nvPr/>
        </p:nvGrpSpPr>
        <p:grpSpPr>
          <a:xfrm rot="0">
            <a:off x="9819398" y="7428953"/>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0816519" y="7766178"/>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Que les signatures reproduisent spontanément le rythme réel d'une ville est la meilleure indication que l'encodage capture bien ce qu'il prétend capturer.</a:t>
            </a:r>
          </a:p>
        </p:txBody>
      </p:sp>
      <p:sp>
        <p:nvSpPr>
          <p:cNvPr name="TextBox 37" id="37"/>
          <p:cNvSpPr txBox="true"/>
          <p:nvPr/>
        </p:nvSpPr>
        <p:spPr>
          <a:xfrm rot="0">
            <a:off x="9910219" y="760495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10816519" y="7400378"/>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Un contrôle gratuit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12</a:t>
            </a:r>
          </a:p>
        </p:txBody>
      </p:sp>
      <p:grpSp>
        <p:nvGrpSpPr>
          <p:cNvPr name="Group 18" id="18"/>
          <p:cNvGrpSpPr/>
          <p:nvPr/>
        </p:nvGrpSpPr>
        <p:grpSpPr>
          <a:xfrm rot="0">
            <a:off x="13154289" y="1028700"/>
            <a:ext cx="4109526" cy="8229600"/>
            <a:chOff x="0" y="0"/>
            <a:chExt cx="5479368" cy="10972800"/>
          </a:xfrm>
        </p:grpSpPr>
        <p:pic>
          <p:nvPicPr>
            <p:cNvPr name="Picture 19" id="19"/>
            <p:cNvPicPr>
              <a:picLocks noChangeAspect="true"/>
            </p:cNvPicPr>
            <p:nvPr/>
          </p:nvPicPr>
          <p:blipFill>
            <a:blip r:embed="rId6"/>
            <a:stretch>
              <a:fillRect/>
            </a:stretch>
          </p:blipFill>
          <p:spPr>
            <a:xfrm flipH="false" flipV="false">
              <a:off x="0" y="0"/>
              <a:ext cx="5479368" cy="10972800"/>
            </a:xfrm>
            <a:prstGeom prst="rect">
              <a:avLst/>
            </a:prstGeom>
          </p:spPr>
        </p:pic>
      </p:grpSp>
      <p:grpSp>
        <p:nvGrpSpPr>
          <p:cNvPr name="Group 20" id="20"/>
          <p:cNvGrpSpPr/>
          <p:nvPr/>
        </p:nvGrpSpPr>
        <p:grpSpPr>
          <a:xfrm rot="0">
            <a:off x="8847225" y="1038225"/>
            <a:ext cx="4109526" cy="8229600"/>
            <a:chOff x="0" y="0"/>
            <a:chExt cx="5479368" cy="10972800"/>
          </a:xfrm>
        </p:grpSpPr>
        <p:pic>
          <p:nvPicPr>
            <p:cNvPr name="Picture 21" id="21"/>
            <p:cNvPicPr>
              <a:picLocks noChangeAspect="true"/>
            </p:cNvPicPr>
            <p:nvPr/>
          </p:nvPicPr>
          <p:blipFill>
            <a:blip r:embed="rId5"/>
            <a:stretch>
              <a:fillRect/>
            </a:stretch>
          </p:blipFill>
          <p:spPr>
            <a:xfrm flipH="false" flipV="false">
              <a:off x="0" y="0"/>
              <a:ext cx="5479368" cy="10972800"/>
            </a:xfrm>
            <a:prstGeom prst="rect">
              <a:avLst/>
            </a:prstGeom>
          </p:spPr>
        </p:pic>
      </p:grpSp>
      <p:sp>
        <p:nvSpPr>
          <p:cNvPr name="TextBox 22" id="22"/>
          <p:cNvSpPr txBox="true"/>
          <p:nvPr/>
        </p:nvSpPr>
        <p:spPr>
          <a:xfrm rot="0">
            <a:off x="2176959" y="1991118"/>
            <a:ext cx="4125510" cy="1691640"/>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La référence</a:t>
            </a:r>
          </a:p>
        </p:txBody>
      </p:sp>
      <p:grpSp>
        <p:nvGrpSpPr>
          <p:cNvPr name="Group 23" id="23"/>
          <p:cNvGrpSpPr/>
          <p:nvPr/>
        </p:nvGrpSpPr>
        <p:grpSpPr>
          <a:xfrm rot="0">
            <a:off x="2176959" y="3788751"/>
            <a:ext cx="677751" cy="677751"/>
            <a:chOff x="0" y="0"/>
            <a:chExt cx="178502" cy="178502"/>
          </a:xfrm>
        </p:grpSpPr>
        <p:sp>
          <p:nvSpPr>
            <p:cNvPr name="Freeform 24" id="2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5" id="2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174080" y="4183126"/>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Pour chaque cellule, chaque jour de la semaine et chaque heure, on retient la lettre la plus fréquemment observée. Cela donne une table de 168 cases par cellule — une semaine type, calculée position par position.</a:t>
            </a:r>
          </a:p>
        </p:txBody>
      </p:sp>
      <p:sp>
        <p:nvSpPr>
          <p:cNvPr name="TextBox 27" id="27"/>
          <p:cNvSpPr txBox="true"/>
          <p:nvPr/>
        </p:nvSpPr>
        <p:spPr>
          <a:xfrm rot="0">
            <a:off x="2267779"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8" id="28"/>
          <p:cNvSpPr txBox="true"/>
          <p:nvPr/>
        </p:nvSpPr>
        <p:spPr>
          <a:xfrm rot="0">
            <a:off x="3174080"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Case par case</a:t>
            </a:r>
          </a:p>
        </p:txBody>
      </p:sp>
      <p:grpSp>
        <p:nvGrpSpPr>
          <p:cNvPr name="Group 29" id="29"/>
          <p:cNvGrpSpPr/>
          <p:nvPr/>
        </p:nvGrpSpPr>
        <p:grpSpPr>
          <a:xfrm rot="0">
            <a:off x="2176959" y="6513804"/>
            <a:ext cx="677751" cy="677751"/>
            <a:chOff x="0" y="0"/>
            <a:chExt cx="178502" cy="178502"/>
          </a:xfrm>
        </p:grpSpPr>
        <p:sp>
          <p:nvSpPr>
            <p:cNvPr name="Freeform 30" id="3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1" id="3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3174080" y="6908179"/>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 référence n'est pas une journée qui a existé : chaque heure est décidée séparément. C'est un point de comparaison stable, pas un exemplaire réel — et c'est cette structure case par case qui rendra la fenêtre glissante possible.</a:t>
            </a:r>
          </a:p>
        </p:txBody>
      </p:sp>
      <p:sp>
        <p:nvSpPr>
          <p:cNvPr name="TextBox 33" id="33"/>
          <p:cNvSpPr txBox="true"/>
          <p:nvPr/>
        </p:nvSpPr>
        <p:spPr>
          <a:xfrm rot="0">
            <a:off x="2267779"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4" id="34"/>
          <p:cNvSpPr txBox="true"/>
          <p:nvPr/>
        </p:nvSpPr>
        <p:spPr>
          <a:xfrm rot="0">
            <a:off x="3174080"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Une journée reconstituée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13</a:t>
            </a:r>
          </a:p>
        </p:txBody>
      </p:sp>
      <p:grpSp>
        <p:nvGrpSpPr>
          <p:cNvPr name="Group 18" id="18"/>
          <p:cNvGrpSpPr/>
          <p:nvPr/>
        </p:nvGrpSpPr>
        <p:grpSpPr>
          <a:xfrm rot="0">
            <a:off x="13154289" y="1028700"/>
            <a:ext cx="4109526" cy="8229600"/>
            <a:chOff x="0" y="0"/>
            <a:chExt cx="5479368" cy="10972800"/>
          </a:xfrm>
        </p:grpSpPr>
        <p:pic>
          <p:nvPicPr>
            <p:cNvPr name="Picture 19" id="19"/>
            <p:cNvPicPr>
              <a:picLocks noChangeAspect="true"/>
            </p:cNvPicPr>
            <p:nvPr/>
          </p:nvPicPr>
          <p:blipFill>
            <a:blip r:embed="rId6"/>
            <a:stretch>
              <a:fillRect/>
            </a:stretch>
          </p:blipFill>
          <p:spPr>
            <a:xfrm flipH="false" flipV="false">
              <a:off x="0" y="0"/>
              <a:ext cx="5479368" cy="10972800"/>
            </a:xfrm>
            <a:prstGeom prst="rect">
              <a:avLst/>
            </a:prstGeom>
          </p:spPr>
        </p:pic>
      </p:grpSp>
      <p:grpSp>
        <p:nvGrpSpPr>
          <p:cNvPr name="Group 20" id="20"/>
          <p:cNvGrpSpPr/>
          <p:nvPr/>
        </p:nvGrpSpPr>
        <p:grpSpPr>
          <a:xfrm rot="0">
            <a:off x="8847225" y="1038225"/>
            <a:ext cx="4109526" cy="8229600"/>
            <a:chOff x="0" y="0"/>
            <a:chExt cx="5479368" cy="10972800"/>
          </a:xfrm>
        </p:grpSpPr>
        <p:pic>
          <p:nvPicPr>
            <p:cNvPr name="Picture 21" id="21"/>
            <p:cNvPicPr>
              <a:picLocks noChangeAspect="true"/>
            </p:cNvPicPr>
            <p:nvPr/>
          </p:nvPicPr>
          <p:blipFill>
            <a:blip r:embed="rId5"/>
            <a:stretch>
              <a:fillRect/>
            </a:stretch>
          </p:blipFill>
          <p:spPr>
            <a:xfrm flipH="false" flipV="false">
              <a:off x="0" y="0"/>
              <a:ext cx="5479368" cy="10972800"/>
            </a:xfrm>
            <a:prstGeom prst="rect">
              <a:avLst/>
            </a:prstGeom>
          </p:spPr>
        </p:pic>
      </p:grpSp>
      <p:sp>
        <p:nvSpPr>
          <p:cNvPr name="TextBox 22" id="22"/>
          <p:cNvSpPr txBox="true"/>
          <p:nvPr/>
        </p:nvSpPr>
        <p:spPr>
          <a:xfrm rot="0">
            <a:off x="2176959" y="1991118"/>
            <a:ext cx="4125510"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Segmenter</a:t>
            </a:r>
          </a:p>
        </p:txBody>
      </p:sp>
      <p:grpSp>
        <p:nvGrpSpPr>
          <p:cNvPr name="Group 23" id="23"/>
          <p:cNvGrpSpPr/>
          <p:nvPr/>
        </p:nvGrpSpPr>
        <p:grpSpPr>
          <a:xfrm rot="0">
            <a:off x="2176959" y="3788751"/>
            <a:ext cx="677751" cy="677751"/>
            <a:chOff x="0" y="0"/>
            <a:chExt cx="178502" cy="178502"/>
          </a:xfrm>
        </p:grpSpPr>
        <p:sp>
          <p:nvSpPr>
            <p:cNvPr name="Freeform 24" id="2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5" id="2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174080" y="4183126"/>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pic matinal lié aux déplacements professionnels disparaît le dimanche, l'activité se décale vers l'après-midi. Une référence tous jours confondus signalerait donc chaque dimanche : du bruit systématique, pas de l'information.</a:t>
            </a:r>
          </a:p>
        </p:txBody>
      </p:sp>
      <p:sp>
        <p:nvSpPr>
          <p:cNvPr name="TextBox 27" id="27"/>
          <p:cNvSpPr txBox="true"/>
          <p:nvPr/>
        </p:nvSpPr>
        <p:spPr>
          <a:xfrm rot="0">
            <a:off x="2267779"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8" id="28"/>
          <p:cNvSpPr txBox="true"/>
          <p:nvPr/>
        </p:nvSpPr>
        <p:spPr>
          <a:xfrm rot="0">
            <a:off x="3174080"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Deux rythmes</a:t>
            </a:r>
          </a:p>
        </p:txBody>
      </p:sp>
      <p:grpSp>
        <p:nvGrpSpPr>
          <p:cNvPr name="Group 29" id="29"/>
          <p:cNvGrpSpPr/>
          <p:nvPr/>
        </p:nvGrpSpPr>
        <p:grpSpPr>
          <a:xfrm rot="0">
            <a:off x="2176959" y="6513804"/>
            <a:ext cx="677751" cy="677751"/>
            <a:chOff x="0" y="0"/>
            <a:chExt cx="178502" cy="178502"/>
          </a:xfrm>
        </p:grpSpPr>
        <p:sp>
          <p:nvSpPr>
            <p:cNvPr name="Freeform 30" id="3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1" id="3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3174080" y="6908179"/>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Segmenter divise l'effectif par sept : sept à huit journées par jour de semaine. Le consensus repose donc sur un échantillon modeste, et c'est une fragilité que j'assume et que je documente.</a:t>
            </a:r>
          </a:p>
        </p:txBody>
      </p:sp>
      <p:sp>
        <p:nvSpPr>
          <p:cNvPr name="TextBox 33" id="33"/>
          <p:cNvSpPr txBox="true"/>
          <p:nvPr/>
        </p:nvSpPr>
        <p:spPr>
          <a:xfrm rot="0">
            <a:off x="2267779"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4" id="34"/>
          <p:cNvSpPr txBox="true"/>
          <p:nvPr/>
        </p:nvSpPr>
        <p:spPr>
          <a:xfrm rot="0">
            <a:off x="3174080"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prix à payer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14</a:t>
            </a:r>
          </a:p>
        </p:txBody>
      </p:sp>
      <p:grpSp>
        <p:nvGrpSpPr>
          <p:cNvPr name="Group 18" id="18"/>
          <p:cNvGrpSpPr/>
          <p:nvPr/>
        </p:nvGrpSpPr>
        <p:grpSpPr>
          <a:xfrm rot="0">
            <a:off x="0" y="1028700"/>
            <a:ext cx="8207692" cy="8229600"/>
            <a:chOff x="0" y="0"/>
            <a:chExt cx="10943590" cy="10972800"/>
          </a:xfrm>
        </p:grpSpPr>
        <p:pic>
          <p:nvPicPr>
            <p:cNvPr name="Picture 19" id="19"/>
            <p:cNvPicPr>
              <a:picLocks noChangeAspect="true"/>
            </p:cNvPicPr>
            <p:nvPr/>
          </p:nvPicPr>
          <p:blipFill>
            <a:blip r:embed="rId5"/>
            <a:stretch>
              <a:fillRect/>
            </a:stretch>
          </p:blipFill>
          <p:spPr>
            <a:xfrm flipH="false" flipV="false">
              <a:off x="0" y="0"/>
              <a:ext cx="10943590" cy="10972800"/>
            </a:xfrm>
            <a:prstGeom prst="rect">
              <a:avLst/>
            </a:prstGeom>
          </p:spPr>
        </p:pic>
      </p:grpSp>
      <p:sp>
        <p:nvSpPr>
          <p:cNvPr name="TextBox 20" id="20"/>
          <p:cNvSpPr txBox="true"/>
          <p:nvPr/>
        </p:nvSpPr>
        <p:spPr>
          <a:xfrm rot="0">
            <a:off x="9819398" y="1970724"/>
            <a:ext cx="4125510" cy="1691640"/>
          </a:xfrm>
          <a:prstGeom prst="rect">
            <a:avLst/>
          </a:prstGeom>
        </p:spPr>
        <p:txBody>
          <a:bodyPr anchor="t" rtlCol="false" tIns="0" lIns="0" bIns="0" rIns="0">
            <a:spAutoFit/>
          </a:bodyPr>
          <a:lstStyle/>
          <a:p>
            <a:pPr algn="l">
              <a:lnSpc>
                <a:spcPts val="7150"/>
              </a:lnSpc>
            </a:pPr>
            <a:r>
              <a:rPr lang="en-US" sz="4200" b="true">
                <a:solidFill>
                  <a:srgbClr val="02CDFF"/>
                </a:solidFill>
                <a:latin typeface="Barlow Condensed Bold"/>
                <a:ea typeface="Barlow Condensed Bold"/>
                <a:cs typeface="Barlow Condensed Bold"/>
                <a:sym typeface="Barlow Condensed Bold"/>
              </a:rPr>
              <a:t>Mesurer l'écart</a:t>
            </a:r>
          </a:p>
        </p:txBody>
      </p:sp>
      <p:grpSp>
        <p:nvGrpSpPr>
          <p:cNvPr name="Group 21" id="21"/>
          <p:cNvGrpSpPr/>
          <p:nvPr/>
        </p:nvGrpSpPr>
        <p:grpSpPr>
          <a:xfrm rot="0">
            <a:off x="9819398" y="3768356"/>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816519" y="4105581"/>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Damerau-Levenshtein compte le nombre minimal d'opérations pour passer du mot observé au mot de référence : insertion, suppression, substitution, permutation de deux lettres voisines.</a:t>
            </a:r>
          </a:p>
        </p:txBody>
      </p:sp>
      <p:sp>
        <p:nvSpPr>
          <p:cNvPr name="TextBox 25" id="25"/>
          <p:cNvSpPr txBox="true"/>
          <p:nvPr/>
        </p:nvSpPr>
        <p:spPr>
          <a:xfrm rot="0">
            <a:off x="9910219" y="394435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10816519" y="3739781"/>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 distance</a:t>
            </a:r>
          </a:p>
        </p:txBody>
      </p:sp>
      <p:grpSp>
        <p:nvGrpSpPr>
          <p:cNvPr name="Group 27" id="27"/>
          <p:cNvGrpSpPr/>
          <p:nvPr/>
        </p:nvGrpSpPr>
        <p:grpSpPr>
          <a:xfrm rot="0">
            <a:off x="9819398" y="5598655"/>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0816519" y="5935880"/>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C'est la spécificité de Damerau, et elle est pertinente ici : un pic d'activité décalé d'une heure coûte une seule opération, là où un bouleversement de profil en coûte beaucoup plus.</a:t>
            </a:r>
          </a:p>
        </p:txBody>
      </p:sp>
      <p:sp>
        <p:nvSpPr>
          <p:cNvPr name="TextBox 31" id="31"/>
          <p:cNvSpPr txBox="true"/>
          <p:nvPr/>
        </p:nvSpPr>
        <p:spPr>
          <a:xfrm rot="0">
            <a:off x="9910219" y="577465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0816519" y="5570080"/>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 permutation</a:t>
            </a:r>
          </a:p>
        </p:txBody>
      </p:sp>
      <p:grpSp>
        <p:nvGrpSpPr>
          <p:cNvPr name="Group 33" id="33"/>
          <p:cNvGrpSpPr/>
          <p:nvPr/>
        </p:nvGrpSpPr>
        <p:grpSpPr>
          <a:xfrm rot="0">
            <a:off x="9819398" y="7428953"/>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0816519" y="7766178"/>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L'article compare chaque période à la précédente, ce qui confond départ vers l'anormal et retour au normal. Comparer à une référence fixe élimine ce défaut — et permet de détecter une anomalie qui dure plusieurs jours.</a:t>
            </a:r>
          </a:p>
        </p:txBody>
      </p:sp>
      <p:sp>
        <p:nvSpPr>
          <p:cNvPr name="TextBox 37" id="37"/>
          <p:cNvSpPr txBox="true"/>
          <p:nvPr/>
        </p:nvSpPr>
        <p:spPr>
          <a:xfrm rot="0">
            <a:off x="9910219" y="760495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10816519" y="7400378"/>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Référence stable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15</a:t>
            </a:r>
          </a:p>
        </p:txBody>
      </p:sp>
      <p:grpSp>
        <p:nvGrpSpPr>
          <p:cNvPr name="Group 18" id="18"/>
          <p:cNvGrpSpPr/>
          <p:nvPr/>
        </p:nvGrpSpPr>
        <p:grpSpPr>
          <a:xfrm rot="0">
            <a:off x="0" y="1028700"/>
            <a:ext cx="6133945" cy="9258300"/>
            <a:chOff x="0" y="0"/>
            <a:chExt cx="8178594" cy="12344400"/>
          </a:xfrm>
        </p:grpSpPr>
        <p:pic>
          <p:nvPicPr>
            <p:cNvPr name="Picture 19" id="19"/>
            <p:cNvPicPr>
              <a:picLocks noChangeAspect="true"/>
            </p:cNvPicPr>
            <p:nvPr/>
          </p:nvPicPr>
          <p:blipFill>
            <a:blip r:embed="rId5"/>
            <a:stretch>
              <a:fillRect/>
            </a:stretch>
          </p:blipFill>
          <p:spPr>
            <a:xfrm flipH="false" flipV="false">
              <a:off x="0" y="0"/>
              <a:ext cx="8178594" cy="12344400"/>
            </a:xfrm>
            <a:prstGeom prst="rect">
              <a:avLst/>
            </a:prstGeom>
          </p:spPr>
        </p:pic>
      </p:grpSp>
      <p:sp>
        <p:nvSpPr>
          <p:cNvPr name="TextBox 20" id="20"/>
          <p:cNvSpPr txBox="true"/>
          <p:nvPr/>
        </p:nvSpPr>
        <p:spPr>
          <a:xfrm rot="0">
            <a:off x="7477913" y="1991118"/>
            <a:ext cx="4125510"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Le critère</a:t>
            </a:r>
          </a:p>
        </p:txBody>
      </p:sp>
      <p:grpSp>
        <p:nvGrpSpPr>
          <p:cNvPr name="Group 21" id="21"/>
          <p:cNvGrpSpPr/>
          <p:nvPr/>
        </p:nvGrpSpPr>
        <p:grpSpPr>
          <a:xfrm rot="0">
            <a:off x="7477913" y="3788751"/>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475034"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Une distance de douze ne signifie pas la même chose partout. Un seuil unique signalerait en permanence les zones agitées et jamais les zones calmes.</a:t>
            </a:r>
          </a:p>
        </p:txBody>
      </p:sp>
      <p:sp>
        <p:nvSpPr>
          <p:cNvPr name="TextBox 25" id="25"/>
          <p:cNvSpPr txBox="true"/>
          <p:nvPr/>
        </p:nvSpPr>
        <p:spPr>
          <a:xfrm rot="0">
            <a:off x="7568734"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8475034"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seuil absolu</a:t>
            </a:r>
          </a:p>
        </p:txBody>
      </p:sp>
      <p:grpSp>
        <p:nvGrpSpPr>
          <p:cNvPr name="Group 27" id="27"/>
          <p:cNvGrpSpPr/>
          <p:nvPr/>
        </p:nvGrpSpPr>
        <p:grpSpPr>
          <a:xfrm rot="0">
            <a:off x="12364545" y="3788751"/>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3361666"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Une journée est signalée quand son écart dépasse de plus de trois écarts-types la moyenne des écarts de sa propre cellule.</a:t>
            </a:r>
          </a:p>
        </p:txBody>
      </p:sp>
      <p:sp>
        <p:nvSpPr>
          <p:cNvPr name="TextBox 31" id="31"/>
          <p:cNvSpPr txBox="true"/>
          <p:nvPr/>
        </p:nvSpPr>
        <p:spPr>
          <a:xfrm rot="0">
            <a:off x="12455365"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3361666"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Critère relatif</a:t>
            </a:r>
          </a:p>
        </p:txBody>
      </p:sp>
      <p:grpSp>
        <p:nvGrpSpPr>
          <p:cNvPr name="Group 33" id="33"/>
          <p:cNvGrpSpPr/>
          <p:nvPr/>
        </p:nvGrpSpPr>
        <p:grpSpPr>
          <a:xfrm rot="0">
            <a:off x="7477913" y="6513804"/>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8475034"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Non pas « cet écart est-il grand ? » mais « cet écart est-il inhabituel pour cette cellule ? » C'est la seule qui ait un sens opérationnel.</a:t>
            </a:r>
          </a:p>
        </p:txBody>
      </p:sp>
      <p:sp>
        <p:nvSpPr>
          <p:cNvPr name="TextBox 37" id="37"/>
          <p:cNvSpPr txBox="true"/>
          <p:nvPr/>
        </p:nvSpPr>
        <p:spPr>
          <a:xfrm rot="0">
            <a:off x="7568734"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8475034"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 bonne question</a:t>
            </a:r>
          </a:p>
        </p:txBody>
      </p:sp>
      <p:grpSp>
        <p:nvGrpSpPr>
          <p:cNvPr name="Group 39" id="39"/>
          <p:cNvGrpSpPr/>
          <p:nvPr/>
        </p:nvGrpSpPr>
        <p:grpSpPr>
          <a:xfrm rot="0">
            <a:off x="12364545" y="6513804"/>
            <a:ext cx="677751" cy="677751"/>
            <a:chOff x="0" y="0"/>
            <a:chExt cx="178502" cy="178502"/>
          </a:xfrm>
        </p:grpSpPr>
        <p:sp>
          <p:nvSpPr>
            <p:cNvPr name="Freeform 40" id="4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41" id="4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361666"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 même logique de normalisation s'applique à l'encodage puis à la détection. Sans la première, les signatures ne sont pas comparables ; sans la seconde, le seuil ne l'est pas.</a:t>
            </a:r>
          </a:p>
        </p:txBody>
      </p:sp>
      <p:sp>
        <p:nvSpPr>
          <p:cNvPr name="TextBox 43" id="43"/>
          <p:cNvSpPr txBox="true"/>
          <p:nvPr/>
        </p:nvSpPr>
        <p:spPr>
          <a:xfrm rot="0">
            <a:off x="12455365"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
        <p:nvSpPr>
          <p:cNvPr name="TextBox 44" id="44"/>
          <p:cNvSpPr txBox="true"/>
          <p:nvPr/>
        </p:nvSpPr>
        <p:spPr>
          <a:xfrm rot="0">
            <a:off x="13361666"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Deux étages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16</a:t>
            </a:r>
          </a:p>
        </p:txBody>
      </p:sp>
      <p:grpSp>
        <p:nvGrpSpPr>
          <p:cNvPr name="Group 18" id="18"/>
          <p:cNvGrpSpPr/>
          <p:nvPr/>
        </p:nvGrpSpPr>
        <p:grpSpPr>
          <a:xfrm rot="0">
            <a:off x="12703775" y="1028700"/>
            <a:ext cx="4555525" cy="4567684"/>
            <a:chOff x="0" y="0"/>
            <a:chExt cx="6074033" cy="6090246"/>
          </a:xfrm>
        </p:grpSpPr>
        <p:pic>
          <p:nvPicPr>
            <p:cNvPr name="Picture 19" id="19"/>
            <p:cNvPicPr>
              <a:picLocks noChangeAspect="true"/>
            </p:cNvPicPr>
            <p:nvPr/>
          </p:nvPicPr>
          <p:blipFill>
            <a:blip r:embed="rId7"/>
            <a:stretch>
              <a:fillRect/>
            </a:stretch>
          </p:blipFill>
          <p:spPr>
            <a:xfrm flipH="false" flipV="false">
              <a:off x="0" y="0"/>
              <a:ext cx="6074033" cy="6090246"/>
            </a:xfrm>
            <a:prstGeom prst="rect">
              <a:avLst/>
            </a:prstGeom>
          </p:spPr>
        </p:pic>
      </p:grpSp>
      <p:grpSp>
        <p:nvGrpSpPr>
          <p:cNvPr name="Group 20" id="20"/>
          <p:cNvGrpSpPr/>
          <p:nvPr/>
        </p:nvGrpSpPr>
        <p:grpSpPr>
          <a:xfrm rot="0">
            <a:off x="7889954" y="1028700"/>
            <a:ext cx="4555525" cy="4567684"/>
            <a:chOff x="0" y="0"/>
            <a:chExt cx="6074033" cy="6090246"/>
          </a:xfrm>
        </p:grpSpPr>
        <p:pic>
          <p:nvPicPr>
            <p:cNvPr name="Picture 21" id="21"/>
            <p:cNvPicPr>
              <a:picLocks noChangeAspect="true"/>
            </p:cNvPicPr>
            <p:nvPr/>
          </p:nvPicPr>
          <p:blipFill>
            <a:blip r:embed="rId6"/>
            <a:stretch>
              <a:fillRect/>
            </a:stretch>
          </p:blipFill>
          <p:spPr>
            <a:xfrm flipH="false" flipV="false">
              <a:off x="0" y="0"/>
              <a:ext cx="6074033" cy="6090246"/>
            </a:xfrm>
            <a:prstGeom prst="rect">
              <a:avLst/>
            </a:prstGeom>
          </p:spPr>
        </p:pic>
      </p:grpSp>
      <p:sp>
        <p:nvSpPr>
          <p:cNvPr name="TextBox 22" id="22"/>
          <p:cNvSpPr txBox="true"/>
          <p:nvPr/>
        </p:nvSpPr>
        <p:spPr>
          <a:xfrm rot="0">
            <a:off x="2149968" y="2433141"/>
            <a:ext cx="4125510" cy="1825476"/>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Les résultats</a:t>
            </a:r>
          </a:p>
        </p:txBody>
      </p:sp>
      <p:grpSp>
        <p:nvGrpSpPr>
          <p:cNvPr name="Group 23" id="23"/>
          <p:cNvGrpSpPr/>
          <p:nvPr/>
        </p:nvGrpSpPr>
        <p:grpSpPr>
          <a:xfrm rot="0">
            <a:off x="2149968" y="6929602"/>
            <a:ext cx="677751" cy="677751"/>
            <a:chOff x="0" y="0"/>
            <a:chExt cx="178502" cy="178502"/>
          </a:xfrm>
        </p:grpSpPr>
        <p:sp>
          <p:nvSpPr>
            <p:cNvPr name="Freeform 24" id="2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5" id="2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147088"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Les quantiles détectaient 772 anomalies à 92,2 % expliquées. Les seuils ronds, 5 117 à 83,9 %. Les seuils calibrés, 2 484 à 86,8 %.</a:t>
            </a:r>
          </a:p>
        </p:txBody>
      </p:sp>
      <p:sp>
        <p:nvSpPr>
          <p:cNvPr name="TextBox 27" id="27"/>
          <p:cNvSpPr txBox="true"/>
          <p:nvPr/>
        </p:nvSpPr>
        <p:spPr>
          <a:xfrm rot="0">
            <a:off x="2240788"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8" id="28"/>
          <p:cNvSpPr txBox="true"/>
          <p:nvPr/>
        </p:nvSpPr>
        <p:spPr>
          <a:xfrm rot="0">
            <a:off x="3147088"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Trois encodages</a:t>
            </a:r>
          </a:p>
        </p:txBody>
      </p:sp>
      <p:grpSp>
        <p:nvGrpSpPr>
          <p:cNvPr name="Group 29" id="29"/>
          <p:cNvGrpSpPr/>
          <p:nvPr/>
        </p:nvGrpSpPr>
        <p:grpSpPr>
          <a:xfrm rot="0">
            <a:off x="7165149" y="6929602"/>
            <a:ext cx="677751" cy="677751"/>
            <a:chOff x="0" y="0"/>
            <a:chExt cx="178502" cy="178502"/>
          </a:xfrm>
        </p:grpSpPr>
        <p:sp>
          <p:nvSpPr>
            <p:cNvPr name="Freeform 30" id="3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1" id="3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8162270"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calendrier couvre un tiers de la période : des détections aléatoires produiraient 33 % de correspondance. C'est l'écart avec ce chiffre qui valide, pas le taux seul.</a:t>
            </a:r>
          </a:p>
        </p:txBody>
      </p:sp>
      <p:sp>
        <p:nvSpPr>
          <p:cNvPr name="TextBox 33" id="33"/>
          <p:cNvSpPr txBox="true"/>
          <p:nvPr/>
        </p:nvSpPr>
        <p:spPr>
          <a:xfrm rot="0">
            <a:off x="7255969"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4" id="34"/>
          <p:cNvSpPr txBox="true"/>
          <p:nvPr/>
        </p:nvSpPr>
        <p:spPr>
          <a:xfrm rot="0">
            <a:off x="8162270"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Un arbitre</a:t>
            </a:r>
          </a:p>
        </p:txBody>
      </p:sp>
      <p:grpSp>
        <p:nvGrpSpPr>
          <p:cNvPr name="Group 35" id="35"/>
          <p:cNvGrpSpPr/>
          <p:nvPr/>
        </p:nvGrpSpPr>
        <p:grpSpPr>
          <a:xfrm rot="0">
            <a:off x="12180330" y="6929602"/>
            <a:ext cx="677751" cy="677751"/>
            <a:chOff x="0" y="0"/>
            <a:chExt cx="178502" cy="178502"/>
          </a:xfrm>
        </p:grpSpPr>
        <p:sp>
          <p:nvSpPr>
            <p:cNvPr name="Freeform 36" id="36"/>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7" id="37"/>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13177451"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Les fêtes majeures mobilisent des centaines de cellules, les fêtes secondaires quelques dizaines, les journées ordinaires une à quatre. Cette gradation n'a pas été programmée.</a:t>
            </a:r>
          </a:p>
        </p:txBody>
      </p:sp>
      <p:sp>
        <p:nvSpPr>
          <p:cNvPr name="TextBox 39" id="39"/>
          <p:cNvSpPr txBox="true"/>
          <p:nvPr/>
        </p:nvSpPr>
        <p:spPr>
          <a:xfrm rot="0">
            <a:off x="12271150"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40" id="40"/>
          <p:cNvSpPr txBox="true"/>
          <p:nvPr/>
        </p:nvSpPr>
        <p:spPr>
          <a:xfrm rot="0">
            <a:off x="13177451"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Une hiérarchie</a:t>
            </a:r>
          </a:p>
        </p:txBody>
      </p:sp>
      <p:sp>
        <p:nvSpPr>
          <p:cNvPr name="TextBox 41" id="41"/>
          <p:cNvSpPr txBox="true"/>
          <p:nvPr/>
        </p:nvSpPr>
        <p:spPr>
          <a:xfrm rot="0">
            <a:off x="2149968" y="4979611"/>
            <a:ext cx="4467162"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519 953 journées-cellule analysées. Le choix d'encodage change ce qu'on détecte : trois versions comparées sur exactement le même pipeline.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17</a:t>
            </a:r>
          </a:p>
        </p:txBody>
      </p:sp>
      <p:grpSp>
        <p:nvGrpSpPr>
          <p:cNvPr name="Group 18" id="18"/>
          <p:cNvGrpSpPr/>
          <p:nvPr/>
        </p:nvGrpSpPr>
        <p:grpSpPr>
          <a:xfrm rot="0">
            <a:off x="0" y="1028700"/>
            <a:ext cx="8207692" cy="8229600"/>
            <a:chOff x="0" y="0"/>
            <a:chExt cx="10943590" cy="10972800"/>
          </a:xfrm>
        </p:grpSpPr>
        <p:pic>
          <p:nvPicPr>
            <p:cNvPr name="Picture 19" id="19"/>
            <p:cNvPicPr>
              <a:picLocks noChangeAspect="true"/>
            </p:cNvPicPr>
            <p:nvPr/>
          </p:nvPicPr>
          <p:blipFill>
            <a:blip r:embed="rId5"/>
            <a:stretch>
              <a:fillRect/>
            </a:stretch>
          </p:blipFill>
          <p:spPr>
            <a:xfrm flipH="false" flipV="false">
              <a:off x="0" y="0"/>
              <a:ext cx="10943590" cy="10972800"/>
            </a:xfrm>
            <a:prstGeom prst="rect">
              <a:avLst/>
            </a:prstGeom>
          </p:spPr>
        </p:pic>
      </p:grpSp>
      <p:sp>
        <p:nvSpPr>
          <p:cNvPr name="TextBox 20" id="20"/>
          <p:cNvSpPr txBox="true"/>
          <p:nvPr/>
        </p:nvSpPr>
        <p:spPr>
          <a:xfrm rot="0">
            <a:off x="9819398" y="1970724"/>
            <a:ext cx="4125510" cy="1691640"/>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L'angle mort</a:t>
            </a:r>
          </a:p>
        </p:txBody>
      </p:sp>
      <p:grpSp>
        <p:nvGrpSpPr>
          <p:cNvPr name="Group 21" id="21"/>
          <p:cNvGrpSpPr/>
          <p:nvPr/>
        </p:nvGrpSpPr>
        <p:grpSpPr>
          <a:xfrm rot="0">
            <a:off x="9819398" y="3768356"/>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816519" y="4105581"/>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 découpage en quantiles réserve toujours un sixième des heures à chaque lettre. Une cellule dont le trafic double sans changer de forme produit donc exactement la même signature : distance nulle, anomalie invisible.</a:t>
            </a:r>
          </a:p>
        </p:txBody>
      </p:sp>
      <p:sp>
        <p:nvSpPr>
          <p:cNvPr name="TextBox 25" id="25"/>
          <p:cNvSpPr txBox="true"/>
          <p:nvPr/>
        </p:nvSpPr>
        <p:spPr>
          <a:xfrm rot="0">
            <a:off x="9910219" y="394435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10816519" y="3739781"/>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Ce que les quantiles ratent</a:t>
            </a:r>
          </a:p>
        </p:txBody>
      </p:sp>
      <p:grpSp>
        <p:nvGrpSpPr>
          <p:cNvPr name="Group 27" id="27"/>
          <p:cNvGrpSpPr/>
          <p:nvPr/>
        </p:nvGrpSpPr>
        <p:grpSpPr>
          <a:xfrm rot="0">
            <a:off x="9819398" y="5598655"/>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0816519" y="5935880"/>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Avec des seuils fixes rapportés à la médiane, un doublement fait monter les lettres. Les anomalies d'amplitude — une cellule anormalement chargée ou anormalement calme — deviennent détectables.</a:t>
            </a:r>
          </a:p>
        </p:txBody>
      </p:sp>
      <p:sp>
        <p:nvSpPr>
          <p:cNvPr name="TextBox 31" id="31"/>
          <p:cNvSpPr txBox="true"/>
          <p:nvPr/>
        </p:nvSpPr>
        <p:spPr>
          <a:xfrm rot="0">
            <a:off x="9910219" y="577465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0816519" y="5570080"/>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Ce que la nomenclature voit</a:t>
            </a:r>
          </a:p>
        </p:txBody>
      </p:sp>
      <p:grpSp>
        <p:nvGrpSpPr>
          <p:cNvPr name="Group 33" id="33"/>
          <p:cNvGrpSpPr/>
          <p:nvPr/>
        </p:nvGrpSpPr>
        <p:grpSpPr>
          <a:xfrm rot="0">
            <a:off x="9819398" y="7428953"/>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0816519" y="7766178"/>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Ces nouvelles anomalies n'ont pas toujours de cause calendaire : un incident réseau n'apparaît dans aucun calendrier. Le taux les compte donc comme inexpliquées. Ce n'est pas une régression, c'est le prix de l'élargissement.</a:t>
            </a:r>
          </a:p>
        </p:txBody>
      </p:sp>
      <p:sp>
        <p:nvSpPr>
          <p:cNvPr name="TextBox 37" id="37"/>
          <p:cNvSpPr txBox="true"/>
          <p:nvPr/>
        </p:nvSpPr>
        <p:spPr>
          <a:xfrm rot="0">
            <a:off x="9910219" y="760495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10816519" y="7400378"/>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Pourquoi le taux baisse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18</a:t>
            </a:r>
          </a:p>
        </p:txBody>
      </p:sp>
      <p:grpSp>
        <p:nvGrpSpPr>
          <p:cNvPr name="Group 18" id="18"/>
          <p:cNvGrpSpPr/>
          <p:nvPr/>
        </p:nvGrpSpPr>
        <p:grpSpPr>
          <a:xfrm rot="0">
            <a:off x="1039108" y="1028700"/>
            <a:ext cx="4893363" cy="8239125"/>
            <a:chOff x="0" y="0"/>
            <a:chExt cx="6524484" cy="10985500"/>
          </a:xfrm>
        </p:grpSpPr>
        <p:pic>
          <p:nvPicPr>
            <p:cNvPr name="Picture 19" id="19"/>
            <p:cNvPicPr>
              <a:picLocks noChangeAspect="true"/>
            </p:cNvPicPr>
            <p:nvPr/>
          </p:nvPicPr>
          <p:blipFill>
            <a:blip r:embed="rId5"/>
            <a:stretch>
              <a:fillRect/>
            </a:stretch>
          </p:blipFill>
          <p:spPr>
            <a:xfrm flipH="false" flipV="false">
              <a:off x="0" y="0"/>
              <a:ext cx="6524484" cy="10985500"/>
            </a:xfrm>
            <a:prstGeom prst="rect">
              <a:avLst/>
            </a:prstGeom>
          </p:spPr>
        </p:pic>
      </p:grpSp>
      <p:sp>
        <p:nvSpPr>
          <p:cNvPr name="TextBox 20" id="20"/>
          <p:cNvSpPr txBox="true"/>
          <p:nvPr/>
        </p:nvSpPr>
        <p:spPr>
          <a:xfrm rot="0">
            <a:off x="7613832" y="2367482"/>
            <a:ext cx="9207707" cy="1691640"/>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Le 1er janvier</a:t>
            </a:r>
          </a:p>
        </p:txBody>
      </p:sp>
      <p:sp>
        <p:nvSpPr>
          <p:cNvPr name="TextBox 21" id="21"/>
          <p:cNvSpPr txBox="true"/>
          <p:nvPr/>
        </p:nvSpPr>
        <p:spPr>
          <a:xfrm rot="0">
            <a:off x="7613832" y="4179357"/>
            <a:ext cx="8346855" cy="82706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Cellule 1421, l'anomalie la plus marquée du dataset avec un z-score de 5,00. Le profil est littéralement inversé par rapport à sa référence.</a:t>
            </a:r>
          </a:p>
        </p:txBody>
      </p:sp>
      <p:sp>
        <p:nvSpPr>
          <p:cNvPr name="TextBox 22" id="22"/>
          <p:cNvSpPr txBox="true"/>
          <p:nvPr/>
        </p:nvSpPr>
        <p:spPr>
          <a:xfrm rot="0">
            <a:off x="7613832" y="6531815"/>
            <a:ext cx="3642004"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Les trois premières heures atteignent le maximum là où la référence attend un creux nocturne : le réveillon déborde sur le 1er janvier. Puis la matinée s'effondre et la journée entière se situe nettement en dessous du profil habituel.</a:t>
            </a:r>
          </a:p>
        </p:txBody>
      </p:sp>
      <p:sp>
        <p:nvSpPr>
          <p:cNvPr name="TextBox 23" id="23"/>
          <p:cNvSpPr txBox="true"/>
          <p:nvPr/>
        </p:nvSpPr>
        <p:spPr>
          <a:xfrm rot="0">
            <a:off x="7613832" y="5923716"/>
            <a:ext cx="2699443" cy="264086"/>
          </a:xfrm>
          <a:prstGeom prst="rect">
            <a:avLst/>
          </a:prstGeom>
        </p:spPr>
        <p:txBody>
          <a:bodyPr anchor="t" rtlCol="false" tIns="0" lIns="0" bIns="0" rIns="0">
            <a:spAutoFit/>
          </a:bodyPr>
          <a:lstStyle/>
          <a:p>
            <a:pPr algn="l">
              <a:lnSpc>
                <a:spcPts val="2239"/>
              </a:lnSpc>
              <a:spcBef>
                <a:spcPct val="0"/>
              </a:spcBef>
            </a:pPr>
            <a:r>
              <a:rPr lang="en-US" b="true" sz="1599">
                <a:solidFill>
                  <a:srgbClr val="02CDFF"/>
                </a:solidFill>
                <a:latin typeface="Open Sans Bold"/>
                <a:ea typeface="Open Sans Bold"/>
                <a:cs typeface="Open Sans Bold"/>
                <a:sym typeface="Open Sans Bold"/>
              </a:rPr>
              <a:t>Le mécanisme</a:t>
            </a:r>
          </a:p>
        </p:txBody>
      </p:sp>
      <p:sp>
        <p:nvSpPr>
          <p:cNvPr name="TextBox 24" id="24"/>
          <p:cNvSpPr txBox="true"/>
          <p:nvPr/>
        </p:nvSpPr>
        <p:spPr>
          <a:xfrm rot="0">
            <a:off x="12318682" y="6531815"/>
            <a:ext cx="3642004"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système a identifié cette journée sans aucune information sur le calendrier. Celui-ci n'intervient qu'après coup, pour vérifier. C'est ce qui distingue une détection d'une simple confirmation.</a:t>
            </a:r>
          </a:p>
        </p:txBody>
      </p:sp>
      <p:sp>
        <p:nvSpPr>
          <p:cNvPr name="TextBox 25" id="25"/>
          <p:cNvSpPr txBox="true"/>
          <p:nvPr/>
        </p:nvSpPr>
        <p:spPr>
          <a:xfrm rot="0">
            <a:off x="12318682" y="5923716"/>
            <a:ext cx="2699443" cy="264086"/>
          </a:xfrm>
          <a:prstGeom prst="rect">
            <a:avLst/>
          </a:prstGeom>
        </p:spPr>
        <p:txBody>
          <a:bodyPr anchor="t" rtlCol="false" tIns="0" lIns="0" bIns="0" rIns="0">
            <a:spAutoFit/>
          </a:bodyPr>
          <a:lstStyle/>
          <a:p>
            <a:pPr algn="l">
              <a:lnSpc>
                <a:spcPts val="2239"/>
              </a:lnSpc>
              <a:spcBef>
                <a:spcPct val="0"/>
              </a:spcBef>
            </a:pPr>
            <a:r>
              <a:rPr lang="en-US" b="true" sz="1599">
                <a:solidFill>
                  <a:srgbClr val="02CDFF"/>
                </a:solidFill>
                <a:latin typeface="Open Sans Bold"/>
                <a:ea typeface="Open Sans Bold"/>
                <a:cs typeface="Open Sans Bold"/>
                <a:sym typeface="Open Sans Bold"/>
              </a:rPr>
              <a:t>Le point important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19</a:t>
            </a:r>
          </a:p>
        </p:txBody>
      </p:sp>
      <p:grpSp>
        <p:nvGrpSpPr>
          <p:cNvPr name="Group 18" id="18"/>
          <p:cNvGrpSpPr/>
          <p:nvPr/>
        </p:nvGrpSpPr>
        <p:grpSpPr>
          <a:xfrm rot="0">
            <a:off x="1039108" y="1028700"/>
            <a:ext cx="4893363" cy="8239125"/>
            <a:chOff x="0" y="0"/>
            <a:chExt cx="6524484" cy="10985500"/>
          </a:xfrm>
        </p:grpSpPr>
        <p:pic>
          <p:nvPicPr>
            <p:cNvPr name="Picture 19" id="19"/>
            <p:cNvPicPr>
              <a:picLocks noChangeAspect="true"/>
            </p:cNvPicPr>
            <p:nvPr/>
          </p:nvPicPr>
          <p:blipFill>
            <a:blip r:embed="rId5"/>
            <a:stretch>
              <a:fillRect/>
            </a:stretch>
          </p:blipFill>
          <p:spPr>
            <a:xfrm flipH="false" flipV="false">
              <a:off x="0" y="0"/>
              <a:ext cx="6524484" cy="10985500"/>
            </a:xfrm>
            <a:prstGeom prst="rect">
              <a:avLst/>
            </a:prstGeom>
          </p:spPr>
        </p:pic>
      </p:grpSp>
      <p:sp>
        <p:nvSpPr>
          <p:cNvPr name="TextBox 20" id="20"/>
          <p:cNvSpPr txBox="true"/>
          <p:nvPr/>
        </p:nvSpPr>
        <p:spPr>
          <a:xfrm rot="0">
            <a:off x="7613832" y="2367482"/>
            <a:ext cx="9207707"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Localiser</a:t>
            </a:r>
          </a:p>
        </p:txBody>
      </p:sp>
      <p:sp>
        <p:nvSpPr>
          <p:cNvPr name="TextBox 21" id="21"/>
          <p:cNvSpPr txBox="true"/>
          <p:nvPr/>
        </p:nvSpPr>
        <p:spPr>
          <a:xfrm rot="0">
            <a:off x="7613832" y="4179357"/>
            <a:ext cx="8346855" cy="82706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Les deux chaînes étant alignées position par position, il suffit de regarder lesquelles diffèrent pour savoir quelles heures posent problème — et dans quel sens.</a:t>
            </a:r>
          </a:p>
        </p:txBody>
      </p:sp>
      <p:sp>
        <p:nvSpPr>
          <p:cNvPr name="TextBox 22" id="22"/>
          <p:cNvSpPr txBox="true"/>
          <p:nvPr/>
        </p:nvSpPr>
        <p:spPr>
          <a:xfrm rot="0">
            <a:off x="7613832" y="6531815"/>
            <a:ext cx="3642004"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On ne dit plus « cette journée est anormale » mais « l'anomalie se concentre sur 0h–2h, avec une activité très supérieure, et sur 8h–10h, très inférieure ». C'est la différence entre un résultat d'analyse et une alerte exploitable.</a:t>
            </a:r>
          </a:p>
        </p:txBody>
      </p:sp>
      <p:sp>
        <p:nvSpPr>
          <p:cNvPr name="TextBox 23" id="23"/>
          <p:cNvSpPr txBox="true"/>
          <p:nvPr/>
        </p:nvSpPr>
        <p:spPr>
          <a:xfrm rot="0">
            <a:off x="7613832" y="5923716"/>
            <a:ext cx="2699443" cy="264086"/>
          </a:xfrm>
          <a:prstGeom prst="rect">
            <a:avLst/>
          </a:prstGeom>
        </p:spPr>
        <p:txBody>
          <a:bodyPr anchor="t" rtlCol="false" tIns="0" lIns="0" bIns="0" rIns="0">
            <a:spAutoFit/>
          </a:bodyPr>
          <a:lstStyle/>
          <a:p>
            <a:pPr algn="l">
              <a:lnSpc>
                <a:spcPts val="2239"/>
              </a:lnSpc>
              <a:spcBef>
                <a:spcPct val="0"/>
              </a:spcBef>
            </a:pPr>
            <a:r>
              <a:rPr lang="en-US" b="true" sz="1599">
                <a:solidFill>
                  <a:srgbClr val="02CDFF"/>
                </a:solidFill>
                <a:latin typeface="Open Sans Bold"/>
                <a:ea typeface="Open Sans Bold"/>
                <a:cs typeface="Open Sans Bold"/>
                <a:sym typeface="Open Sans Bold"/>
              </a:rPr>
              <a:t>D'un score à une alerte</a:t>
            </a:r>
          </a:p>
        </p:txBody>
      </p:sp>
      <p:sp>
        <p:nvSpPr>
          <p:cNvPr name="TextBox 24" id="24"/>
          <p:cNvSpPr txBox="true"/>
          <p:nvPr/>
        </p:nvSpPr>
        <p:spPr>
          <a:xfrm rot="0">
            <a:off x="12318682" y="6531815"/>
            <a:ext cx="3642004"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Cette lecture est aussi un outil de tri : si les anomalies sans explication calendaire se concentrent sur les mêmes plages horaires, c'est un indice fort sur leur nature. Si elles sont dispersées, c'est probablement du bruit.</a:t>
            </a:r>
          </a:p>
        </p:txBody>
      </p:sp>
      <p:sp>
        <p:nvSpPr>
          <p:cNvPr name="TextBox 25" id="25"/>
          <p:cNvSpPr txBox="true"/>
          <p:nvPr/>
        </p:nvSpPr>
        <p:spPr>
          <a:xfrm rot="0">
            <a:off x="12318682" y="5923716"/>
            <a:ext cx="2699443" cy="264086"/>
          </a:xfrm>
          <a:prstGeom prst="rect">
            <a:avLst/>
          </a:prstGeom>
        </p:spPr>
        <p:txBody>
          <a:bodyPr anchor="t" rtlCol="false" tIns="0" lIns="0" bIns="0" rIns="0">
            <a:spAutoFit/>
          </a:bodyPr>
          <a:lstStyle/>
          <a:p>
            <a:pPr algn="l">
              <a:lnSpc>
                <a:spcPts val="2239"/>
              </a:lnSpc>
              <a:spcBef>
                <a:spcPct val="0"/>
              </a:spcBef>
            </a:pPr>
            <a:r>
              <a:rPr lang="en-US" b="true" sz="1599">
                <a:solidFill>
                  <a:srgbClr val="02CDFF"/>
                </a:solidFill>
                <a:latin typeface="Open Sans Bold"/>
                <a:ea typeface="Open Sans Bold"/>
                <a:cs typeface="Open Sans Bold"/>
                <a:sym typeface="Open Sans Bold"/>
              </a:rPr>
              <a:t>Un usage pour les résidus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20</a:t>
            </a:r>
          </a:p>
        </p:txBody>
      </p:sp>
      <p:grpSp>
        <p:nvGrpSpPr>
          <p:cNvPr name="Group 18" id="18"/>
          <p:cNvGrpSpPr/>
          <p:nvPr/>
        </p:nvGrpSpPr>
        <p:grpSpPr>
          <a:xfrm rot="0">
            <a:off x="12703775" y="1028700"/>
            <a:ext cx="4555525" cy="4567684"/>
            <a:chOff x="0" y="0"/>
            <a:chExt cx="6074033" cy="6090246"/>
          </a:xfrm>
        </p:grpSpPr>
        <p:pic>
          <p:nvPicPr>
            <p:cNvPr name="Picture 19" id="19"/>
            <p:cNvPicPr>
              <a:picLocks noChangeAspect="true"/>
            </p:cNvPicPr>
            <p:nvPr/>
          </p:nvPicPr>
          <p:blipFill>
            <a:blip r:embed="rId7"/>
            <a:stretch>
              <a:fillRect/>
            </a:stretch>
          </p:blipFill>
          <p:spPr>
            <a:xfrm flipH="false" flipV="false">
              <a:off x="0" y="0"/>
              <a:ext cx="6074033" cy="6090246"/>
            </a:xfrm>
            <a:prstGeom prst="rect">
              <a:avLst/>
            </a:prstGeom>
          </p:spPr>
        </p:pic>
      </p:grpSp>
      <p:grpSp>
        <p:nvGrpSpPr>
          <p:cNvPr name="Group 20" id="20"/>
          <p:cNvGrpSpPr/>
          <p:nvPr/>
        </p:nvGrpSpPr>
        <p:grpSpPr>
          <a:xfrm rot="0">
            <a:off x="7889954" y="1028700"/>
            <a:ext cx="4555525" cy="4567684"/>
            <a:chOff x="0" y="0"/>
            <a:chExt cx="6074033" cy="6090246"/>
          </a:xfrm>
        </p:grpSpPr>
        <p:pic>
          <p:nvPicPr>
            <p:cNvPr name="Picture 21" id="21"/>
            <p:cNvPicPr>
              <a:picLocks noChangeAspect="true"/>
            </p:cNvPicPr>
            <p:nvPr/>
          </p:nvPicPr>
          <p:blipFill>
            <a:blip r:embed="rId6"/>
            <a:stretch>
              <a:fillRect/>
            </a:stretch>
          </p:blipFill>
          <p:spPr>
            <a:xfrm flipH="false" flipV="false">
              <a:off x="0" y="0"/>
              <a:ext cx="6074033" cy="6090246"/>
            </a:xfrm>
            <a:prstGeom prst="rect">
              <a:avLst/>
            </a:prstGeom>
          </p:spPr>
        </p:pic>
      </p:grpSp>
      <p:sp>
        <p:nvSpPr>
          <p:cNvPr name="TextBox 22" id="22"/>
          <p:cNvSpPr txBox="true"/>
          <p:nvPr/>
        </p:nvSpPr>
        <p:spPr>
          <a:xfrm rot="0">
            <a:off x="2149968" y="2433141"/>
            <a:ext cx="4125510" cy="1825476"/>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Le multi-canal</a:t>
            </a:r>
          </a:p>
        </p:txBody>
      </p:sp>
      <p:grpSp>
        <p:nvGrpSpPr>
          <p:cNvPr name="Group 23" id="23"/>
          <p:cNvGrpSpPr/>
          <p:nvPr/>
        </p:nvGrpSpPr>
        <p:grpSpPr>
          <a:xfrm rot="0">
            <a:off x="2149968" y="6929602"/>
            <a:ext cx="677751" cy="677751"/>
            <a:chOff x="0" y="0"/>
            <a:chExt cx="178502" cy="178502"/>
          </a:xfrm>
        </p:grpSpPr>
        <p:sp>
          <p:nvSpPr>
            <p:cNvPr name="Freeform 24" id="2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5" id="2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147088"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Internet 2 484 anomalies à 86,8 %, SMS 4 755 à 92,8 %, appels 6 468 à 97,6 %. Les signaux plus rares et en rafale sortent plus facilement du lot.</a:t>
            </a:r>
          </a:p>
        </p:txBody>
      </p:sp>
      <p:sp>
        <p:nvSpPr>
          <p:cNvPr name="TextBox 27" id="27"/>
          <p:cNvSpPr txBox="true"/>
          <p:nvPr/>
        </p:nvSpPr>
        <p:spPr>
          <a:xfrm rot="0">
            <a:off x="2240788"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8" id="28"/>
          <p:cNvSpPr txBox="true"/>
          <p:nvPr/>
        </p:nvSpPr>
        <p:spPr>
          <a:xfrm rot="0">
            <a:off x="3147088"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Trois canaux</a:t>
            </a:r>
          </a:p>
        </p:txBody>
      </p:sp>
      <p:grpSp>
        <p:nvGrpSpPr>
          <p:cNvPr name="Group 29" id="29"/>
          <p:cNvGrpSpPr/>
          <p:nvPr/>
        </p:nvGrpSpPr>
        <p:grpSpPr>
          <a:xfrm rot="0">
            <a:off x="7165149" y="6929602"/>
            <a:ext cx="677751" cy="677751"/>
            <a:chOff x="0" y="0"/>
            <a:chExt cx="178502" cy="178502"/>
          </a:xfrm>
        </p:grpSpPr>
        <p:sp>
          <p:nvSpPr>
            <p:cNvPr name="Freeform 30" id="3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1" id="3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8162270"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Sur 11 440 journées-cellule signalées par au moins un canal, 2 062 le sont sur deux ou plus — et ce sous-ensemble atteint 99,2 % de correspondance calendaire.</a:t>
            </a:r>
          </a:p>
        </p:txBody>
      </p:sp>
      <p:sp>
        <p:nvSpPr>
          <p:cNvPr name="TextBox 33" id="33"/>
          <p:cNvSpPr txBox="true"/>
          <p:nvPr/>
        </p:nvSpPr>
        <p:spPr>
          <a:xfrm rot="0">
            <a:off x="7255969"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4" id="34"/>
          <p:cNvSpPr txBox="true"/>
          <p:nvPr/>
        </p:nvSpPr>
        <p:spPr>
          <a:xfrm rot="0">
            <a:off x="8162270"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croisement</a:t>
            </a:r>
          </a:p>
        </p:txBody>
      </p:sp>
      <p:grpSp>
        <p:nvGrpSpPr>
          <p:cNvPr name="Group 35" id="35"/>
          <p:cNvGrpSpPr/>
          <p:nvPr/>
        </p:nvGrpSpPr>
        <p:grpSpPr>
          <a:xfrm rot="0">
            <a:off x="12180330" y="6929602"/>
            <a:ext cx="677751" cy="677751"/>
            <a:chOff x="0" y="0"/>
            <a:chExt cx="178502" cy="178502"/>
          </a:xfrm>
        </p:grpSpPr>
        <p:sp>
          <p:nvSpPr>
            <p:cNvPr name="Freeform 36" id="36"/>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7" id="37"/>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13177451" y="7266827"/>
            <a:ext cx="2960582" cy="103557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205 journées-cellule sont confirmées sur les trois canaux à la fois. C'est l'équivalent fonctionnel du croisement ADN / brin de DiNATrAX, que mon adaptation n'avait pas repris.</a:t>
            </a:r>
          </a:p>
        </p:txBody>
      </p:sp>
      <p:sp>
        <p:nvSpPr>
          <p:cNvPr name="TextBox 39" id="39"/>
          <p:cNvSpPr txBox="true"/>
          <p:nvPr/>
        </p:nvSpPr>
        <p:spPr>
          <a:xfrm rot="0">
            <a:off x="12271150" y="710560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40" id="40"/>
          <p:cNvSpPr txBox="true"/>
          <p:nvPr/>
        </p:nvSpPr>
        <p:spPr>
          <a:xfrm rot="0">
            <a:off x="13177451" y="6901027"/>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noyau dur</a:t>
            </a:r>
          </a:p>
        </p:txBody>
      </p:sp>
      <p:sp>
        <p:nvSpPr>
          <p:cNvPr name="TextBox 41" id="41"/>
          <p:cNvSpPr txBox="true"/>
          <p:nvPr/>
        </p:nvSpPr>
        <p:spPr>
          <a:xfrm rot="0">
            <a:off x="2149968" y="4979611"/>
            <a:ext cx="4467162"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même pipeline — encodage, référence, distance, z-score — est répété sur les SMS et les appels, chacun avec ses propres seuils calibrés : un seuil ne se transporte pas tel quel d'un canal à l'autre.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21</a:t>
            </a:r>
          </a:p>
        </p:txBody>
      </p:sp>
      <p:grpSp>
        <p:nvGrpSpPr>
          <p:cNvPr name="Group 18" id="18"/>
          <p:cNvGrpSpPr/>
          <p:nvPr/>
        </p:nvGrpSpPr>
        <p:grpSpPr>
          <a:xfrm rot="0">
            <a:off x="0" y="1028700"/>
            <a:ext cx="6133945" cy="9258300"/>
            <a:chOff x="0" y="0"/>
            <a:chExt cx="8178594" cy="12344400"/>
          </a:xfrm>
        </p:grpSpPr>
        <p:pic>
          <p:nvPicPr>
            <p:cNvPr name="Picture 19" id="19"/>
            <p:cNvPicPr>
              <a:picLocks noChangeAspect="true"/>
            </p:cNvPicPr>
            <p:nvPr/>
          </p:nvPicPr>
          <p:blipFill>
            <a:blip r:embed="rId6"/>
            <a:stretch>
              <a:fillRect/>
            </a:stretch>
          </p:blipFill>
          <p:spPr>
            <a:xfrm flipH="false" flipV="false">
              <a:off x="0" y="0"/>
              <a:ext cx="8178594" cy="12344400"/>
            </a:xfrm>
            <a:prstGeom prst="rect">
              <a:avLst/>
            </a:prstGeom>
          </p:spPr>
        </p:pic>
      </p:grpSp>
      <p:sp>
        <p:nvSpPr>
          <p:cNvPr name="TextBox 20" id="20"/>
          <p:cNvSpPr txBox="true"/>
          <p:nvPr/>
        </p:nvSpPr>
        <p:spPr>
          <a:xfrm rot="0">
            <a:off x="7477913" y="1991118"/>
            <a:ext cx="4125510"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La latence</a:t>
            </a:r>
          </a:p>
        </p:txBody>
      </p:sp>
      <p:grpSp>
        <p:nvGrpSpPr>
          <p:cNvPr name="Group 21" id="21"/>
          <p:cNvGrpSpPr/>
          <p:nvPr/>
        </p:nvGrpSpPr>
        <p:grpSpPr>
          <a:xfrm rot="0">
            <a:off x="7477913" y="3788751"/>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475034"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pipeline attend qu'une journée calendaire soit complète. Une anomalie qui démarre à huit heures du matin n'est signalée qu'après vingt-trois heures.</a:t>
            </a:r>
          </a:p>
        </p:txBody>
      </p:sp>
      <p:sp>
        <p:nvSpPr>
          <p:cNvPr name="TextBox 25" id="25"/>
          <p:cNvSpPr txBox="true"/>
          <p:nvPr/>
        </p:nvSpPr>
        <p:spPr>
          <a:xfrm rot="0">
            <a:off x="7568734"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8475034"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constat</a:t>
            </a:r>
          </a:p>
        </p:txBody>
      </p:sp>
      <p:grpSp>
        <p:nvGrpSpPr>
          <p:cNvPr name="Group 27" id="27"/>
          <p:cNvGrpSpPr/>
          <p:nvPr/>
        </p:nvGrpSpPr>
        <p:grpSpPr>
          <a:xfrm rot="0">
            <a:off x="12364545" y="3788751"/>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3361666"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Dans un système d'exploitation réel, apprendre le lendemain qu'une panne a eu lieu la veille n'a aucune valeur opérationnelle. C'est un outil d'analyse, pas de détection.</a:t>
            </a:r>
          </a:p>
        </p:txBody>
      </p:sp>
      <p:sp>
        <p:nvSpPr>
          <p:cNvPr name="TextBox 31" id="31"/>
          <p:cNvSpPr txBox="true"/>
          <p:nvPr/>
        </p:nvSpPr>
        <p:spPr>
          <a:xfrm rot="0">
            <a:off x="12455365"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3361666"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L'objection</a:t>
            </a:r>
          </a:p>
        </p:txBody>
      </p:sp>
      <p:grpSp>
        <p:nvGrpSpPr>
          <p:cNvPr name="Group 33" id="33"/>
          <p:cNvGrpSpPr/>
          <p:nvPr/>
        </p:nvGrpSpPr>
        <p:grpSpPr>
          <a:xfrm rot="0">
            <a:off x="7477913" y="6513804"/>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8475034"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 longueur de la fenêtre — 24 heures — et la fréquence d'évaluation — une fois par jour — sont deux choses distinctes. C'est la seconde qui cause la latence.</a:t>
            </a:r>
          </a:p>
        </p:txBody>
      </p:sp>
      <p:sp>
        <p:nvSpPr>
          <p:cNvPr name="TextBox 37" id="37"/>
          <p:cNvSpPr txBox="true"/>
          <p:nvPr/>
        </p:nvSpPr>
        <p:spPr>
          <a:xfrm rot="0">
            <a:off x="7568734"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8475034"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Deux paramètres</a:t>
            </a:r>
          </a:p>
        </p:txBody>
      </p:sp>
      <p:grpSp>
        <p:nvGrpSpPr>
          <p:cNvPr name="Group 39" id="39"/>
          <p:cNvGrpSpPr/>
          <p:nvPr/>
        </p:nvGrpSpPr>
        <p:grpSpPr>
          <a:xfrm rot="0">
            <a:off x="12364545" y="6513804"/>
            <a:ext cx="677751" cy="677751"/>
            <a:chOff x="0" y="0"/>
            <a:chExt cx="178502" cy="178502"/>
          </a:xfrm>
        </p:grpSpPr>
        <p:sp>
          <p:nvSpPr>
            <p:cNvPr name="Freeform 40" id="4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41" id="4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361666"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On peut donc conserver des signatures de 24 lettres et ne changer que le moment où on les lit. Rien dans l'encodage n'impose d'attendre minuit.</a:t>
            </a:r>
          </a:p>
        </p:txBody>
      </p:sp>
      <p:sp>
        <p:nvSpPr>
          <p:cNvPr name="TextBox 43" id="43"/>
          <p:cNvSpPr txBox="true"/>
          <p:nvPr/>
        </p:nvSpPr>
        <p:spPr>
          <a:xfrm rot="0">
            <a:off x="12455365"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
        <p:nvSpPr>
          <p:cNvPr name="TextBox 44" id="44"/>
          <p:cNvSpPr txBox="true"/>
          <p:nvPr/>
        </p:nvSpPr>
        <p:spPr>
          <a:xfrm rot="0">
            <a:off x="13361666"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 conséquence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22</a:t>
            </a:r>
          </a:p>
        </p:txBody>
      </p:sp>
      <p:grpSp>
        <p:nvGrpSpPr>
          <p:cNvPr name="Group 18" id="18"/>
          <p:cNvGrpSpPr/>
          <p:nvPr/>
        </p:nvGrpSpPr>
        <p:grpSpPr>
          <a:xfrm rot="0">
            <a:off x="0" y="1028700"/>
            <a:ext cx="8207692" cy="8229600"/>
            <a:chOff x="0" y="0"/>
            <a:chExt cx="10943590" cy="10972800"/>
          </a:xfrm>
        </p:grpSpPr>
        <p:pic>
          <p:nvPicPr>
            <p:cNvPr name="Picture 19" id="19"/>
            <p:cNvPicPr>
              <a:picLocks noChangeAspect="true"/>
            </p:cNvPicPr>
            <p:nvPr/>
          </p:nvPicPr>
          <p:blipFill>
            <a:blip r:embed="rId5"/>
            <a:stretch>
              <a:fillRect/>
            </a:stretch>
          </p:blipFill>
          <p:spPr>
            <a:xfrm flipH="false" flipV="false">
              <a:off x="0" y="0"/>
              <a:ext cx="10943590" cy="10972800"/>
            </a:xfrm>
            <a:prstGeom prst="rect">
              <a:avLst/>
            </a:prstGeom>
          </p:spPr>
        </p:pic>
      </p:grpSp>
      <p:sp>
        <p:nvSpPr>
          <p:cNvPr name="TextBox 20" id="20"/>
          <p:cNvSpPr txBox="true"/>
          <p:nvPr/>
        </p:nvSpPr>
        <p:spPr>
          <a:xfrm rot="0">
            <a:off x="9819398" y="1970724"/>
            <a:ext cx="4125510" cy="1691640"/>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La fenêtre</a:t>
            </a:r>
          </a:p>
        </p:txBody>
      </p:sp>
      <p:grpSp>
        <p:nvGrpSpPr>
          <p:cNvPr name="Group 21" id="21"/>
          <p:cNvGrpSpPr/>
          <p:nvPr/>
        </p:nvGrpSpPr>
        <p:grpSpPr>
          <a:xfrm rot="0">
            <a:off x="9819398" y="3768356"/>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816519" y="4105581"/>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Mêmes signatures de 24 lettres, mais réévaluées à chaque heure sur les 24 dernières heures écoulées. La fenêtre glisse d'un cran par heure au lieu d'être découpée en blocs alignés sur minuit.</a:t>
            </a:r>
          </a:p>
        </p:txBody>
      </p:sp>
      <p:sp>
        <p:nvSpPr>
          <p:cNvPr name="TextBox 25" id="25"/>
          <p:cNvSpPr txBox="true"/>
          <p:nvPr/>
        </p:nvSpPr>
        <p:spPr>
          <a:xfrm rot="0">
            <a:off x="9910219" y="394435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10816519" y="3739781"/>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principe</a:t>
            </a:r>
          </a:p>
        </p:txBody>
      </p:sp>
      <p:grpSp>
        <p:nvGrpSpPr>
          <p:cNvPr name="Group 27" id="27"/>
          <p:cNvGrpSpPr/>
          <p:nvPr/>
        </p:nvGrpSpPr>
        <p:grpSpPr>
          <a:xfrm rot="0">
            <a:off x="9819398" y="5598655"/>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0816519" y="5935880"/>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 référence est définie case par case, par cellule, jour de semaine et heure. Une fenêtre à cheval sur deux jours lit simplement dans deux séquences de référence différentes.</a:t>
            </a:r>
          </a:p>
        </p:txBody>
      </p:sp>
      <p:sp>
        <p:nvSpPr>
          <p:cNvPr name="TextBox 31" id="31"/>
          <p:cNvSpPr txBox="true"/>
          <p:nvPr/>
        </p:nvSpPr>
        <p:spPr>
          <a:xfrm rot="0">
            <a:off x="9910219" y="577465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0816519" y="5570080"/>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Rien à réestimer</a:t>
            </a:r>
          </a:p>
        </p:txBody>
      </p:sp>
      <p:grpSp>
        <p:nvGrpSpPr>
          <p:cNvPr name="Group 33" id="33"/>
          <p:cNvGrpSpPr/>
          <p:nvPr/>
        </p:nvGrpSpPr>
        <p:grpSpPr>
          <a:xfrm rot="0">
            <a:off x="9819398" y="7428953"/>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0816519" y="7766178"/>
            <a:ext cx="5133848" cy="616773"/>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On passe d'environ 52 distances par cellule à plus d'un millier, ce qui améliore nettement l'estimation de l'écart-type — donc la fiabilité du z-score.</a:t>
            </a:r>
          </a:p>
        </p:txBody>
      </p:sp>
      <p:sp>
        <p:nvSpPr>
          <p:cNvPr name="TextBox 37" id="37"/>
          <p:cNvSpPr txBox="true"/>
          <p:nvPr/>
        </p:nvSpPr>
        <p:spPr>
          <a:xfrm rot="0">
            <a:off x="9910219" y="760495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10816519" y="7400378"/>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Un bénéfice indirect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23</a:t>
            </a:r>
          </a:p>
        </p:txBody>
      </p:sp>
      <p:grpSp>
        <p:nvGrpSpPr>
          <p:cNvPr name="Group 18" id="18"/>
          <p:cNvGrpSpPr/>
          <p:nvPr/>
        </p:nvGrpSpPr>
        <p:grpSpPr>
          <a:xfrm rot="0">
            <a:off x="0" y="1028700"/>
            <a:ext cx="6133945" cy="9258300"/>
            <a:chOff x="0" y="0"/>
            <a:chExt cx="8178594" cy="12344400"/>
          </a:xfrm>
        </p:grpSpPr>
        <p:pic>
          <p:nvPicPr>
            <p:cNvPr name="Picture 19" id="19"/>
            <p:cNvPicPr>
              <a:picLocks noChangeAspect="true"/>
            </p:cNvPicPr>
            <p:nvPr/>
          </p:nvPicPr>
          <p:blipFill>
            <a:blip r:embed="rId7"/>
            <a:stretch>
              <a:fillRect/>
            </a:stretch>
          </p:blipFill>
          <p:spPr>
            <a:xfrm flipH="false" flipV="false">
              <a:off x="0" y="0"/>
              <a:ext cx="8178594" cy="12344400"/>
            </a:xfrm>
            <a:prstGeom prst="rect">
              <a:avLst/>
            </a:prstGeom>
          </p:spPr>
        </p:pic>
      </p:grpSp>
      <p:sp>
        <p:nvSpPr>
          <p:cNvPr name="TextBox 20" id="20"/>
          <p:cNvSpPr txBox="true"/>
          <p:nvPr/>
        </p:nvSpPr>
        <p:spPr>
          <a:xfrm rot="0">
            <a:off x="7477913" y="1991118"/>
            <a:ext cx="4125510" cy="1691640"/>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Deux échelles</a:t>
            </a:r>
          </a:p>
        </p:txBody>
      </p:sp>
      <p:grpSp>
        <p:nvGrpSpPr>
          <p:cNvPr name="Group 21" id="21"/>
          <p:cNvGrpSpPr/>
          <p:nvPr/>
        </p:nvGrpSpPr>
        <p:grpSpPr>
          <a:xfrm rot="0">
            <a:off x="7477913" y="3788751"/>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475034"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Une anomalie reste dans la fenêtre pendant 24 heures : 63 407 alertes horaires brutes deviennent 8 757 incidents en ne gardant que les fronts montants.</a:t>
            </a:r>
          </a:p>
        </p:txBody>
      </p:sp>
      <p:sp>
        <p:nvSpPr>
          <p:cNvPr name="TextBox 25" id="25"/>
          <p:cNvSpPr txBox="true"/>
          <p:nvPr/>
        </p:nvSpPr>
        <p:spPr>
          <a:xfrm rot="0">
            <a:off x="7568734"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8475034"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Le dédoublonnage</a:t>
            </a:r>
          </a:p>
        </p:txBody>
      </p:sp>
      <p:grpSp>
        <p:nvGrpSpPr>
          <p:cNvPr name="Group 27" id="27"/>
          <p:cNvGrpSpPr/>
          <p:nvPr/>
        </p:nvGrpSpPr>
        <p:grpSpPr>
          <a:xfrm rot="0">
            <a:off x="12364545" y="3788751"/>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3361666"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Et non ÷ 24 : la plupart des incidents durent moins d'une journée entière. Le facteur théorique de 24 ne vaudrait que pour une anomalie couvrant les 24 heures.</a:t>
            </a:r>
          </a:p>
        </p:txBody>
      </p:sp>
      <p:sp>
        <p:nvSpPr>
          <p:cNvPr name="TextBox 31" id="31"/>
          <p:cNvSpPr txBox="true"/>
          <p:nvPr/>
        </p:nvSpPr>
        <p:spPr>
          <a:xfrm rot="0">
            <a:off x="12455365"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3361666"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Pourquoi ÷ 7</a:t>
            </a:r>
          </a:p>
        </p:txBody>
      </p:sp>
      <p:grpSp>
        <p:nvGrpSpPr>
          <p:cNvPr name="Group 33" id="33"/>
          <p:cNvGrpSpPr/>
          <p:nvPr/>
        </p:nvGrpSpPr>
        <p:grpSpPr>
          <a:xfrm rot="0">
            <a:off x="7477913" y="6513804"/>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8475034"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Une fenêtre de 24 positions réagit mal aux pics d'une ou deux heures. Une seconde fenêtre de 6 lettres tourne donc en parallèle, avec sa propre référence et son propre seuil.</a:t>
            </a:r>
          </a:p>
        </p:txBody>
      </p:sp>
      <p:sp>
        <p:nvSpPr>
          <p:cNvPr name="TextBox 37" id="37"/>
          <p:cNvSpPr txBox="true"/>
          <p:nvPr/>
        </p:nvSpPr>
        <p:spPr>
          <a:xfrm rot="0">
            <a:off x="7568734"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8475034"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 fenêtre courte</a:t>
            </a:r>
          </a:p>
        </p:txBody>
      </p:sp>
      <p:grpSp>
        <p:nvGrpSpPr>
          <p:cNvPr name="Group 39" id="39"/>
          <p:cNvGrpSpPr/>
          <p:nvPr/>
        </p:nvGrpSpPr>
        <p:grpSpPr>
          <a:xfrm rot="0">
            <a:off x="12364545" y="6513804"/>
            <a:ext cx="677751" cy="677751"/>
            <a:chOff x="0" y="0"/>
            <a:chExt cx="178502" cy="178502"/>
          </a:xfrm>
        </p:grpSpPr>
        <p:sp>
          <p:nvSpPr>
            <p:cNvPr name="Freeform 40" id="4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41" id="4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361666"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1 529 incidents sont signalés par les deux fenêtres au même horodatage : durables et nets à la fois. C'est le sous-ensemble à plus haute confiance.</a:t>
            </a:r>
          </a:p>
        </p:txBody>
      </p:sp>
      <p:sp>
        <p:nvSpPr>
          <p:cNvPr name="TextBox 43" id="43"/>
          <p:cNvSpPr txBox="true"/>
          <p:nvPr/>
        </p:nvSpPr>
        <p:spPr>
          <a:xfrm rot="0">
            <a:off x="12455365"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
        <p:nvSpPr>
          <p:cNvPr name="TextBox 44" id="44"/>
          <p:cNvSpPr txBox="true"/>
          <p:nvPr/>
        </p:nvSpPr>
        <p:spPr>
          <a:xfrm rot="0">
            <a:off x="13361666"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La confirmation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24</a:t>
            </a:r>
          </a:p>
        </p:txBody>
      </p:sp>
      <p:grpSp>
        <p:nvGrpSpPr>
          <p:cNvPr name="Group 18" id="18"/>
          <p:cNvGrpSpPr/>
          <p:nvPr/>
        </p:nvGrpSpPr>
        <p:grpSpPr>
          <a:xfrm rot="0">
            <a:off x="13154289" y="1028700"/>
            <a:ext cx="4109526" cy="8229600"/>
            <a:chOff x="0" y="0"/>
            <a:chExt cx="5479368" cy="10972800"/>
          </a:xfrm>
        </p:grpSpPr>
        <p:pic>
          <p:nvPicPr>
            <p:cNvPr name="Picture 19" id="19"/>
            <p:cNvPicPr>
              <a:picLocks noChangeAspect="true"/>
            </p:cNvPicPr>
            <p:nvPr/>
          </p:nvPicPr>
          <p:blipFill>
            <a:blip r:embed="rId6"/>
            <a:stretch>
              <a:fillRect/>
            </a:stretch>
          </p:blipFill>
          <p:spPr>
            <a:xfrm flipH="false" flipV="false">
              <a:off x="0" y="0"/>
              <a:ext cx="5479368" cy="10972800"/>
            </a:xfrm>
            <a:prstGeom prst="rect">
              <a:avLst/>
            </a:prstGeom>
          </p:spPr>
        </p:pic>
      </p:grpSp>
      <p:grpSp>
        <p:nvGrpSpPr>
          <p:cNvPr name="Group 20" id="20"/>
          <p:cNvGrpSpPr/>
          <p:nvPr/>
        </p:nvGrpSpPr>
        <p:grpSpPr>
          <a:xfrm rot="0">
            <a:off x="8847225" y="1038225"/>
            <a:ext cx="4109526" cy="8229600"/>
            <a:chOff x="0" y="0"/>
            <a:chExt cx="5479368" cy="10972800"/>
          </a:xfrm>
        </p:grpSpPr>
        <p:pic>
          <p:nvPicPr>
            <p:cNvPr name="Picture 21" id="21"/>
            <p:cNvPicPr>
              <a:picLocks noChangeAspect="true"/>
            </p:cNvPicPr>
            <p:nvPr/>
          </p:nvPicPr>
          <p:blipFill>
            <a:blip r:embed="rId5"/>
            <a:stretch>
              <a:fillRect/>
            </a:stretch>
          </p:blipFill>
          <p:spPr>
            <a:xfrm flipH="false" flipV="false">
              <a:off x="0" y="0"/>
              <a:ext cx="5479368" cy="10972800"/>
            </a:xfrm>
            <a:prstGeom prst="rect">
              <a:avLst/>
            </a:prstGeom>
          </p:spPr>
        </p:pic>
      </p:grpSp>
      <p:sp>
        <p:nvSpPr>
          <p:cNvPr name="TextBox 22" id="22"/>
          <p:cNvSpPr txBox="true"/>
          <p:nvPr/>
        </p:nvSpPr>
        <p:spPr>
          <a:xfrm rot="0">
            <a:off x="2176959" y="1991118"/>
            <a:ext cx="4125510" cy="1691640"/>
          </a:xfrm>
          <a:prstGeom prst="rect">
            <a:avLst/>
          </a:prstGeom>
        </p:spPr>
        <p:txBody>
          <a:bodyPr anchor="t" rtlCol="false" tIns="0" lIns="0" bIns="0" rIns="0">
            <a:spAutoFit/>
          </a:bodyPr>
          <a:lstStyle/>
          <a:p>
            <a:pPr algn="l">
              <a:lnSpc>
                <a:spcPts val="7150"/>
              </a:lnSpc>
            </a:pPr>
            <a:r>
              <a:rPr lang="en-US" sz="4200" b="true">
                <a:solidFill>
                  <a:srgbClr val="02CDFF"/>
                </a:solidFill>
                <a:latin typeface="Barlow Condensed Bold"/>
                <a:ea typeface="Barlow Condensed Bold"/>
                <a:cs typeface="Barlow Condensed Bold"/>
                <a:sym typeface="Barlow Condensed Bold"/>
              </a:rPr>
              <a:t>Un système autonome</a:t>
            </a:r>
          </a:p>
        </p:txBody>
      </p:sp>
      <p:grpSp>
        <p:nvGrpSpPr>
          <p:cNvPr name="Group 23" id="23"/>
          <p:cNvGrpSpPr/>
          <p:nvPr/>
        </p:nvGrpSpPr>
        <p:grpSpPr>
          <a:xfrm rot="0">
            <a:off x="2176959" y="3788751"/>
            <a:ext cx="677751" cy="677751"/>
            <a:chOff x="0" y="0"/>
            <a:chExt cx="178502" cy="178502"/>
          </a:xfrm>
        </p:grpSpPr>
        <p:sp>
          <p:nvSpPr>
            <p:cNvPr name="Freeform 24" id="2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5" id="2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174080" y="4183126"/>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L'apprentissage tourne hors ligne et ne produit que des paramètres : seuils calibrés par canal, table de référence, moyennes et écarts-types. La détection tourne en ligne : encodage à la volée, deux fenêtres, dédoublonnage.</a:t>
            </a:r>
          </a:p>
        </p:txBody>
      </p:sp>
      <p:sp>
        <p:nvSpPr>
          <p:cNvPr name="TextBox 27" id="27"/>
          <p:cNvSpPr txBox="true"/>
          <p:nvPr/>
        </p:nvSpPr>
        <p:spPr>
          <a:xfrm rot="0">
            <a:off x="2267779"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8" id="28"/>
          <p:cNvSpPr txBox="true"/>
          <p:nvPr/>
        </p:nvSpPr>
        <p:spPr>
          <a:xfrm rot="0">
            <a:off x="3174080"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Deux blocs</a:t>
            </a:r>
          </a:p>
        </p:txBody>
      </p:sp>
      <p:grpSp>
        <p:nvGrpSpPr>
          <p:cNvPr name="Group 29" id="29"/>
          <p:cNvGrpSpPr/>
          <p:nvPr/>
        </p:nvGrpSpPr>
        <p:grpSpPr>
          <a:xfrm rot="0">
            <a:off x="2176959" y="6513804"/>
            <a:ext cx="677751" cy="677751"/>
            <a:chOff x="0" y="0"/>
            <a:chExt cx="178502" cy="178502"/>
          </a:xfrm>
        </p:grpSpPr>
        <p:sp>
          <p:nvSpPr>
            <p:cNvPr name="Freeform 30" id="3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1" id="3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3174080" y="6908179"/>
            <a:ext cx="3838189"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système ne prédit rien : il constate un écart par rapport à un résumé du passé. Restent à traiter le rafraîchissement périodique de la référence — en excluant les périodes déjà signalées — et le démarrage à froid d'une cellule nouvelle.</a:t>
            </a:r>
          </a:p>
        </p:txBody>
      </p:sp>
      <p:sp>
        <p:nvSpPr>
          <p:cNvPr name="TextBox 33" id="33"/>
          <p:cNvSpPr txBox="true"/>
          <p:nvPr/>
        </p:nvSpPr>
        <p:spPr>
          <a:xfrm rot="0">
            <a:off x="2267779"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4" id="34"/>
          <p:cNvSpPr txBox="true"/>
          <p:nvPr/>
        </p:nvSpPr>
        <p:spPr>
          <a:xfrm rot="0">
            <a:off x="3174080"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Pas de futur</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25</a:t>
            </a:r>
          </a:p>
        </p:txBody>
      </p:sp>
      <p:grpSp>
        <p:nvGrpSpPr>
          <p:cNvPr name="Group 18" id="18"/>
          <p:cNvGrpSpPr/>
          <p:nvPr/>
        </p:nvGrpSpPr>
        <p:grpSpPr>
          <a:xfrm rot="0">
            <a:off x="0" y="1028700"/>
            <a:ext cx="6133945" cy="9258300"/>
            <a:chOff x="0" y="0"/>
            <a:chExt cx="8178594" cy="12344400"/>
          </a:xfrm>
        </p:grpSpPr>
        <p:pic>
          <p:nvPicPr>
            <p:cNvPr name="Picture 19" id="19"/>
            <p:cNvPicPr>
              <a:picLocks noChangeAspect="true"/>
            </p:cNvPicPr>
            <p:nvPr/>
          </p:nvPicPr>
          <p:blipFill>
            <a:blip r:embed="rId7"/>
            <a:stretch>
              <a:fillRect/>
            </a:stretch>
          </p:blipFill>
          <p:spPr>
            <a:xfrm flipH="false" flipV="false">
              <a:off x="0" y="0"/>
              <a:ext cx="8178594" cy="12344400"/>
            </a:xfrm>
            <a:prstGeom prst="rect">
              <a:avLst/>
            </a:prstGeom>
          </p:spPr>
        </p:pic>
      </p:grpSp>
      <p:sp>
        <p:nvSpPr>
          <p:cNvPr name="TextBox 20" id="20"/>
          <p:cNvSpPr txBox="true"/>
          <p:nvPr/>
        </p:nvSpPr>
        <p:spPr>
          <a:xfrm rot="0">
            <a:off x="7477913" y="1991118"/>
            <a:ext cx="4125510" cy="1691640"/>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Les limites</a:t>
            </a:r>
          </a:p>
        </p:txBody>
      </p:sp>
      <p:grpSp>
        <p:nvGrpSpPr>
          <p:cNvPr name="Group 21" id="21"/>
          <p:cNvGrpSpPr/>
          <p:nvPr/>
        </p:nvGrpSpPr>
        <p:grpSpPr>
          <a:xfrm rot="0">
            <a:off x="7477913" y="3788751"/>
            <a:ext cx="677751" cy="677751"/>
            <a:chOff x="0" y="0"/>
            <a:chExt cx="178502" cy="178502"/>
          </a:xfrm>
        </p:grpSpPr>
        <p:sp>
          <p:nvSpPr>
            <p:cNvPr name="Freeform 22" id="22"/>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3" id="23"/>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475034"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Je sais combien d'alertes je produis, pas combien d'incidents je manque. C'est la limite la plus importante, et elle est partagée avec l'article d'origine.</a:t>
            </a:r>
          </a:p>
        </p:txBody>
      </p:sp>
      <p:sp>
        <p:nvSpPr>
          <p:cNvPr name="TextBox 25" id="25"/>
          <p:cNvSpPr txBox="true"/>
          <p:nvPr/>
        </p:nvSpPr>
        <p:spPr>
          <a:xfrm rot="0">
            <a:off x="7568734"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6" id="26"/>
          <p:cNvSpPr txBox="true"/>
          <p:nvPr/>
        </p:nvSpPr>
        <p:spPr>
          <a:xfrm rot="0">
            <a:off x="8475034"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Aucun rappel</a:t>
            </a:r>
          </a:p>
        </p:txBody>
      </p:sp>
      <p:grpSp>
        <p:nvGrpSpPr>
          <p:cNvPr name="Group 27" id="27"/>
          <p:cNvGrpSpPr/>
          <p:nvPr/>
        </p:nvGrpSpPr>
        <p:grpSpPr>
          <a:xfrm rot="0">
            <a:off x="12364545" y="3788751"/>
            <a:ext cx="677751" cy="677751"/>
            <a:chOff x="0" y="0"/>
            <a:chExt cx="178502" cy="178502"/>
          </a:xfrm>
        </p:grpSpPr>
        <p:sp>
          <p:nvSpPr>
            <p:cNvPr name="Freeform 28" id="28"/>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29" id="29"/>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3361666" y="4183126"/>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 référence est calculée sur les mêmes 52 jours que la détection. Une validation honnête apprendrait sur novembre et détecterait sur la fin décembre.</a:t>
            </a:r>
          </a:p>
        </p:txBody>
      </p:sp>
      <p:sp>
        <p:nvSpPr>
          <p:cNvPr name="TextBox 31" id="31"/>
          <p:cNvSpPr txBox="true"/>
          <p:nvPr/>
        </p:nvSpPr>
        <p:spPr>
          <a:xfrm rot="0">
            <a:off x="12455365" y="396474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2" id="32"/>
          <p:cNvSpPr txBox="true"/>
          <p:nvPr/>
        </p:nvSpPr>
        <p:spPr>
          <a:xfrm rot="0">
            <a:off x="13361666" y="3760176"/>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Non aveugle</a:t>
            </a:r>
          </a:p>
        </p:txBody>
      </p:sp>
      <p:grpSp>
        <p:nvGrpSpPr>
          <p:cNvPr name="Group 33" id="33"/>
          <p:cNvGrpSpPr/>
          <p:nvPr/>
        </p:nvGrpSpPr>
        <p:grpSpPr>
          <a:xfrm rot="0">
            <a:off x="7477913" y="6513804"/>
            <a:ext cx="677751" cy="677751"/>
            <a:chOff x="0" y="0"/>
            <a:chExt cx="178502" cy="178502"/>
          </a:xfrm>
        </p:grpSpPr>
        <p:sp>
          <p:nvSpPr>
            <p:cNvPr name="Freeform 34" id="34"/>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35" id="35"/>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8475034"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Les anomalies d'amplitude que la nomenclature détecte désormais n'ont pas toujours de cause calendaire : le taux les compte comme inexpliquées, à tort ou à raison.</a:t>
            </a:r>
          </a:p>
        </p:txBody>
      </p:sp>
      <p:sp>
        <p:nvSpPr>
          <p:cNvPr name="TextBox 37" id="37"/>
          <p:cNvSpPr txBox="true"/>
          <p:nvPr/>
        </p:nvSpPr>
        <p:spPr>
          <a:xfrm rot="0">
            <a:off x="7568734"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8475034"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Amplitude</a:t>
            </a:r>
          </a:p>
        </p:txBody>
      </p:sp>
      <p:grpSp>
        <p:nvGrpSpPr>
          <p:cNvPr name="Group 39" id="39"/>
          <p:cNvGrpSpPr/>
          <p:nvPr/>
        </p:nvGrpSpPr>
        <p:grpSpPr>
          <a:xfrm rot="0">
            <a:off x="12364545" y="6513804"/>
            <a:ext cx="677751" cy="677751"/>
            <a:chOff x="0" y="0"/>
            <a:chExt cx="178502" cy="178502"/>
          </a:xfrm>
        </p:grpSpPr>
        <p:sp>
          <p:nvSpPr>
            <p:cNvPr name="Freeform 40" id="40"/>
            <p:cNvSpPr/>
            <p:nvPr/>
          </p:nvSpPr>
          <p:spPr>
            <a:xfrm flipH="false" flipV="false" rot="0">
              <a:off x="0" y="0"/>
              <a:ext cx="178502" cy="178502"/>
            </a:xfrm>
            <a:custGeom>
              <a:avLst/>
              <a:gdLst/>
              <a:ahLst/>
              <a:cxnLst/>
              <a:rect r="r" b="b" t="t" l="l"/>
              <a:pathLst>
                <a:path h="178502" w="178502">
                  <a:moveTo>
                    <a:pt x="0" y="0"/>
                  </a:moveTo>
                  <a:lnTo>
                    <a:pt x="178502" y="0"/>
                  </a:lnTo>
                  <a:lnTo>
                    <a:pt x="178502" y="178502"/>
                  </a:lnTo>
                  <a:lnTo>
                    <a:pt x="0" y="178502"/>
                  </a:lnTo>
                  <a:close/>
                </a:path>
              </a:pathLst>
            </a:custGeom>
            <a:gradFill rotWithShape="true">
              <a:gsLst>
                <a:gs pos="0">
                  <a:srgbClr val="45D0FC">
                    <a:alpha val="100000"/>
                  </a:srgbClr>
                </a:gs>
                <a:gs pos="100000">
                  <a:srgbClr val="085DA0">
                    <a:alpha val="100000"/>
                  </a:srgbClr>
                </a:gs>
              </a:gsLst>
              <a:lin ang="2700000"/>
            </a:gradFill>
          </p:spPr>
        </p:sp>
        <p:sp>
          <p:nvSpPr>
            <p:cNvPr name="TextBox 41" id="41"/>
            <p:cNvSpPr txBox="true"/>
            <p:nvPr/>
          </p:nvSpPr>
          <p:spPr>
            <a:xfrm>
              <a:off x="0" y="-38100"/>
              <a:ext cx="178502" cy="216602"/>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361666" y="6908179"/>
            <a:ext cx="2957481" cy="1454378"/>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Six niveaux, seuil à trois écarts-types, fenêtres de 24 et 6 heures, consensus par mode sur sept observations : des choix raisonnés, mais sans analyse de sensibilité complète.</a:t>
            </a:r>
          </a:p>
        </p:txBody>
      </p:sp>
      <p:sp>
        <p:nvSpPr>
          <p:cNvPr name="TextBox 43" id="43"/>
          <p:cNvSpPr txBox="true"/>
          <p:nvPr/>
        </p:nvSpPr>
        <p:spPr>
          <a:xfrm rot="0">
            <a:off x="12455365" y="668980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
        <p:nvSpPr>
          <p:cNvPr name="TextBox 44" id="44"/>
          <p:cNvSpPr txBox="true"/>
          <p:nvPr/>
        </p:nvSpPr>
        <p:spPr>
          <a:xfrm rot="0">
            <a:off x="13361666" y="6485229"/>
            <a:ext cx="2012018" cy="240591"/>
          </a:xfrm>
          <a:prstGeom prst="rect">
            <a:avLst/>
          </a:prstGeom>
        </p:spPr>
        <p:txBody>
          <a:bodyPr anchor="t" rtlCol="false" tIns="0" lIns="0" bIns="0" rIns="0">
            <a:spAutoFit/>
          </a:bodyPr>
          <a:lstStyle/>
          <a:p>
            <a:pPr algn="l">
              <a:lnSpc>
                <a:spcPts val="1960"/>
              </a:lnSpc>
              <a:spcBef>
                <a:spcPct val="0"/>
              </a:spcBef>
            </a:pPr>
            <a:r>
              <a:rPr lang="en-US" b="true" sz="1400">
                <a:solidFill>
                  <a:srgbClr val="02CDFF"/>
                </a:solidFill>
                <a:latin typeface="Open Sans Bold"/>
                <a:ea typeface="Open Sans Bold"/>
                <a:cs typeface="Open Sans Bold"/>
                <a:sym typeface="Open Sans Bold"/>
              </a:rPr>
              <a:t>Paramètres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26</a:t>
            </a:r>
          </a:p>
        </p:txBody>
      </p:sp>
      <p:grpSp>
        <p:nvGrpSpPr>
          <p:cNvPr name="Group 18" id="18"/>
          <p:cNvGrpSpPr/>
          <p:nvPr/>
        </p:nvGrpSpPr>
        <p:grpSpPr>
          <a:xfrm rot="0">
            <a:off x="24365" y="5719316"/>
            <a:ext cx="4555525" cy="4567684"/>
            <a:chOff x="0" y="0"/>
            <a:chExt cx="6074033" cy="6090246"/>
          </a:xfrm>
        </p:grpSpPr>
        <p:pic>
          <p:nvPicPr>
            <p:cNvPr name="Picture 19" id="19"/>
            <p:cNvPicPr>
              <a:picLocks noChangeAspect="true"/>
            </p:cNvPicPr>
            <p:nvPr/>
          </p:nvPicPr>
          <p:blipFill>
            <a:blip r:embed="rId6"/>
            <a:stretch>
              <a:fillRect/>
            </a:stretch>
          </p:blipFill>
          <p:spPr>
            <a:xfrm flipH="false" flipV="false">
              <a:off x="0" y="0"/>
              <a:ext cx="6074033" cy="6090246"/>
            </a:xfrm>
            <a:prstGeom prst="rect">
              <a:avLst/>
            </a:prstGeom>
          </p:spPr>
        </p:pic>
      </p:grpSp>
      <p:grpSp>
        <p:nvGrpSpPr>
          <p:cNvPr name="Group 20" id="20"/>
          <p:cNvGrpSpPr/>
          <p:nvPr/>
        </p:nvGrpSpPr>
        <p:grpSpPr>
          <a:xfrm rot="0">
            <a:off x="4974067" y="5719316"/>
            <a:ext cx="12285233" cy="4567684"/>
            <a:chOff x="0" y="0"/>
            <a:chExt cx="16380311" cy="6090246"/>
          </a:xfrm>
        </p:grpSpPr>
        <p:pic>
          <p:nvPicPr>
            <p:cNvPr name="Picture 21" id="21"/>
            <p:cNvPicPr>
              <a:picLocks noChangeAspect="true"/>
            </p:cNvPicPr>
            <p:nvPr/>
          </p:nvPicPr>
          <p:blipFill>
            <a:blip r:embed="rId7"/>
            <a:stretch>
              <a:fillRect/>
            </a:stretch>
          </p:blipFill>
          <p:spPr>
            <a:xfrm flipH="false" flipV="false">
              <a:off x="0" y="0"/>
              <a:ext cx="16380311" cy="6090246"/>
            </a:xfrm>
            <a:prstGeom prst="rect">
              <a:avLst/>
            </a:prstGeom>
          </p:spPr>
        </p:pic>
      </p:grpSp>
      <p:sp>
        <p:nvSpPr>
          <p:cNvPr name="TextBox 22" id="22"/>
          <p:cNvSpPr txBox="true"/>
          <p:nvPr/>
        </p:nvSpPr>
        <p:spPr>
          <a:xfrm rot="0">
            <a:off x="2049828" y="2093225"/>
            <a:ext cx="5088349" cy="1825476"/>
          </a:xfrm>
          <a:prstGeom prst="rect">
            <a:avLst/>
          </a:prstGeom>
        </p:spPr>
        <p:txBody>
          <a:bodyPr anchor="t" rtlCol="false" tIns="0" lIns="0" bIns="0" rIns="0">
            <a:spAutoFit/>
          </a:bodyPr>
          <a:lstStyle/>
          <a:p>
            <a:pPr algn="l">
              <a:lnSpc>
                <a:spcPts val="7150"/>
              </a:lnSpc>
            </a:pPr>
            <a:r>
              <a:rPr lang="en-US" sz="5200" b="true">
                <a:solidFill>
                  <a:srgbClr val="02CDFF"/>
                </a:solidFill>
                <a:latin typeface="Barlow Condensed Bold"/>
                <a:ea typeface="Barlow Condensed Bold"/>
                <a:cs typeface="Barlow Condensed Bold"/>
                <a:sym typeface="Barlow Condensed Bold"/>
              </a:rPr>
              <a:t>Prolongements</a:t>
            </a:r>
          </a:p>
        </p:txBody>
      </p:sp>
      <p:sp>
        <p:nvSpPr>
          <p:cNvPr name="TextBox 23" id="23"/>
          <p:cNvSpPr txBox="true"/>
          <p:nvPr/>
        </p:nvSpPr>
        <p:spPr>
          <a:xfrm rot="0">
            <a:off x="7843952" y="2249628"/>
            <a:ext cx="3515769" cy="2082582"/>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La validation en aveugle reste la piste la plus décisive : apprendre sur novembre et début décembre, détecter sur la fin décembre. Le trou de données découpe naturellement le dataset, et la période de test contient Noël, le Nouvel An et les anomalies restées inexpliquées.</a:t>
            </a:r>
          </a:p>
        </p:txBody>
      </p:sp>
      <p:sp>
        <p:nvSpPr>
          <p:cNvPr name="TextBox 24" id="24"/>
          <p:cNvSpPr txBox="true"/>
          <p:nvPr/>
        </p:nvSpPr>
        <p:spPr>
          <a:xfrm rot="0">
            <a:off x="12722403" y="2249628"/>
            <a:ext cx="3515769" cy="2082582"/>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Viennent ensuite la distance ordinale — un saut de A à F doit peser plus qu'un glissement de A à B — puis l'examen des résidus et le renforcement du consensus, aujourd'hui calculé par mode sur sept observations seulement.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292608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Ronic Takougang</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Système</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Résultats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Méthode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Contexte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27</a:t>
            </a:r>
          </a:p>
        </p:txBody>
      </p:sp>
      <p:grpSp>
        <p:nvGrpSpPr>
          <p:cNvPr name="Group 18" id="18"/>
          <p:cNvGrpSpPr/>
          <p:nvPr/>
        </p:nvGrpSpPr>
        <p:grpSpPr>
          <a:xfrm rot="0">
            <a:off x="24365" y="5719316"/>
            <a:ext cx="4555525" cy="4567684"/>
            <a:chOff x="0" y="0"/>
            <a:chExt cx="6074033" cy="6090246"/>
          </a:xfrm>
        </p:grpSpPr>
        <p:pic>
          <p:nvPicPr>
            <p:cNvPr name="Picture 19" id="19"/>
            <p:cNvPicPr>
              <a:picLocks noChangeAspect="true"/>
            </p:cNvPicPr>
            <p:nvPr/>
          </p:nvPicPr>
          <p:blipFill>
            <a:blip r:embed="rId8"/>
            <a:stretch>
              <a:fillRect/>
            </a:stretch>
          </p:blipFill>
          <p:spPr>
            <a:xfrm flipH="false" flipV="false">
              <a:off x="0" y="0"/>
              <a:ext cx="6074033" cy="6090246"/>
            </a:xfrm>
            <a:prstGeom prst="rect">
              <a:avLst/>
            </a:prstGeom>
          </p:spPr>
        </p:pic>
      </p:grpSp>
      <p:grpSp>
        <p:nvGrpSpPr>
          <p:cNvPr name="Group 20" id="20"/>
          <p:cNvGrpSpPr/>
          <p:nvPr/>
        </p:nvGrpSpPr>
        <p:grpSpPr>
          <a:xfrm rot="0">
            <a:off x="4974067" y="5719316"/>
            <a:ext cx="12285233" cy="4567684"/>
            <a:chOff x="0" y="0"/>
            <a:chExt cx="16380311" cy="6090246"/>
          </a:xfrm>
        </p:grpSpPr>
        <p:pic>
          <p:nvPicPr>
            <p:cNvPr name="Picture 21" id="21"/>
            <p:cNvPicPr>
              <a:picLocks noChangeAspect="true"/>
            </p:cNvPicPr>
            <p:nvPr/>
          </p:nvPicPr>
          <p:blipFill>
            <a:blip r:embed="rId7"/>
            <a:stretch>
              <a:fillRect/>
            </a:stretch>
          </p:blipFill>
          <p:spPr>
            <a:xfrm flipH="false" flipV="false">
              <a:off x="0" y="0"/>
              <a:ext cx="16380311" cy="6090246"/>
            </a:xfrm>
            <a:prstGeom prst="rect">
              <a:avLst/>
            </a:prstGeom>
          </p:spPr>
        </p:pic>
      </p:grpSp>
      <p:sp>
        <p:nvSpPr>
          <p:cNvPr name="TextBox 22" id="22"/>
          <p:cNvSpPr txBox="true"/>
          <p:nvPr/>
        </p:nvSpPr>
        <p:spPr>
          <a:xfrm rot="0">
            <a:off x="2049828" y="2093225"/>
            <a:ext cx="5088349" cy="1825476"/>
          </a:xfrm>
          <a:prstGeom prst="rect">
            <a:avLst/>
          </a:prstGeom>
        </p:spPr>
        <p:txBody>
          <a:bodyPr anchor="t" rtlCol="false" tIns="0" lIns="0" bIns="0" rIns="0">
            <a:spAutoFit/>
          </a:bodyPr>
          <a:lstStyle/>
          <a:p>
            <a:pPr algn="l">
              <a:lnSpc>
                <a:spcPts val="7150"/>
              </a:lnSpc>
            </a:pPr>
            <a:r>
              <a:rPr lang="en-US" sz="6200" b="true">
                <a:solidFill>
                  <a:srgbClr val="02CDFF"/>
                </a:solidFill>
                <a:latin typeface="Barlow Condensed Bold"/>
                <a:ea typeface="Barlow Condensed Bold"/>
                <a:cs typeface="Barlow Condensed Bold"/>
                <a:sym typeface="Barlow Condensed Bold"/>
              </a:rPr>
              <a:t>La démo</a:t>
            </a:r>
          </a:p>
        </p:txBody>
      </p:sp>
      <p:sp>
        <p:nvSpPr>
          <p:cNvPr name="TextBox 23" id="23"/>
          <p:cNvSpPr txBox="true"/>
          <p:nvPr/>
        </p:nvSpPr>
        <p:spPr>
          <a:xfrm rot="0">
            <a:off x="7843952" y="2249628"/>
            <a:ext cx="3515769" cy="2082582"/>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Toute la chaîne aboutit à une visualisation cartographique en trois dimensions : les 10 000 cellules de Milan, animées heure par heure sur les 52 jours, avec la hauteur proportionnelle au trafic et les anomalies mises en évidence.</a:t>
            </a:r>
          </a:p>
        </p:txBody>
      </p:sp>
      <p:sp>
        <p:nvSpPr>
          <p:cNvPr name="TextBox 24" id="24"/>
          <p:cNvSpPr txBox="true"/>
          <p:nvPr/>
        </p:nvSpPr>
        <p:spPr>
          <a:xfrm rot="0">
            <a:off x="12722403" y="2249628"/>
            <a:ext cx="3515769" cy="2082582"/>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Le sélecteur permet de basculer entre Internet, SMS et appels, et de distinguer les anomalies vues par la fenêtre longue seule de celles confirmées par les deux fenêtres. Le curseur temporel parcourt les 52 jours heure par heure.</a:t>
            </a:r>
          </a:p>
        </p:txBody>
      </p:sp>
      <p:sp>
        <p:nvSpPr>
          <p:cNvPr id="25" name="TextBox 24"/>
          <p:cNvSpPr txBox="1"/>
          <p:nvPr/>
        </p:nvSpPr>
        <p:spPr>
          <a:xfrm>
            <a:off x="7818120" y="4572000"/>
            <a:ext cx="8503920" cy="640080"/>
          </a:xfrm>
          <a:prstGeom prst="rect">
            <a:avLst/>
          </a:prstGeom>
          <a:noFill/>
        </p:spPr>
        <p:txBody>
          <a:bodyPr wrap="square">
            <a:spAutoFit/>
          </a:bodyPr>
          <a:lstStyle/>
          <a:p>
            <a:r>
              <a:rPr sz="3000" b="1">
                <a:solidFill>
                  <a:srgbClr val="02CDFF"/>
                </a:solidFill>
                <a:latin typeface="Open Sans"/>
                <a:hlinkClick r:id="rId9"/>
              </a:rPr>
              <a:t>▶  Ouvrir la démo interactive</a:t>
            </a:r>
          </a:p>
        </p:txBody>
      </p:sp>
      <p:sp>
        <p:nvSpPr>
          <p:cNvPr id="26" name="TextBox 25"/>
          <p:cNvSpPr txBox="1"/>
          <p:nvPr/>
        </p:nvSpPr>
        <p:spPr>
          <a:xfrm>
            <a:off x="7818120" y="5303520"/>
            <a:ext cx="8503920" cy="411480"/>
          </a:xfrm>
          <a:prstGeom prst="rect">
            <a:avLst/>
          </a:prstGeom>
          <a:noFill/>
        </p:spPr>
        <p:txBody>
          <a:bodyPr wrap="square">
            <a:spAutoFit/>
          </a:bodyPr>
          <a:lstStyle/>
          <a:p>
            <a:r>
              <a:rPr sz="1800">
                <a:solidFill>
                  <a:srgbClr val="8A9099"/>
                </a:solidFill>
                <a:latin typeface="Open Sans"/>
              </a:rPr>
              <a:t>http://127.0.0.1:5500/viz/milan_3d.html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DAHRnoZ70uQ</dc:identifier>
  <dcterms:modified xsi:type="dcterms:W3CDTF">2011-08-01T06:04:30Z</dcterms:modified>
  <cp:revision>1</cp:revision>
  <dc:title>Blue Modern Artificial Intelligence Presentation</dc:title>
</cp:coreProperties>
</file>